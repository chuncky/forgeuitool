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2" r:id="rId3"/>
    <p:sldMasterId id="2147483664" r:id="rId4"/>
    <p:sldMasterId id="2147483666" r:id="rId5"/>
    <p:sldMasterId id="2147483668" r:id="rId6"/>
    <p:sldMasterId id="2147483670" r:id="rId7"/>
    <p:sldMasterId id="2147483672" r:id="rId8"/>
    <p:sldMasterId id="2147483674" r:id="rId9"/>
  </p:sldMasterIdLst>
  <p:notesMasterIdLst>
    <p:notesMasterId r:id="rId41"/>
  </p:notesMasterIdLst>
  <p:sldIdLst>
    <p:sldId id="256" r:id="rId10"/>
    <p:sldId id="300" r:id="rId11"/>
    <p:sldId id="288" r:id="rId12"/>
    <p:sldId id="290" r:id="rId13"/>
    <p:sldId id="289" r:id="rId14"/>
    <p:sldId id="291" r:id="rId15"/>
    <p:sldId id="292" r:id="rId16"/>
    <p:sldId id="293" r:id="rId17"/>
    <p:sldId id="294" r:id="rId18"/>
    <p:sldId id="296" r:id="rId19"/>
    <p:sldId id="295" r:id="rId20"/>
    <p:sldId id="297" r:id="rId21"/>
    <p:sldId id="298" r:id="rId22"/>
    <p:sldId id="299" r:id="rId23"/>
    <p:sldId id="301" r:id="rId24"/>
    <p:sldId id="272" r:id="rId25"/>
    <p:sldId id="273" r:id="rId26"/>
    <p:sldId id="274" r:id="rId27"/>
    <p:sldId id="275" r:id="rId28"/>
    <p:sldId id="276" r:id="rId29"/>
    <p:sldId id="278" r:id="rId30"/>
    <p:sldId id="277" r:id="rId31"/>
    <p:sldId id="279" r:id="rId32"/>
    <p:sldId id="280" r:id="rId33"/>
    <p:sldId id="281" r:id="rId34"/>
    <p:sldId id="282" r:id="rId35"/>
    <p:sldId id="283" r:id="rId36"/>
    <p:sldId id="302" r:id="rId37"/>
    <p:sldId id="304" r:id="rId38"/>
    <p:sldId id="305" r:id="rId39"/>
    <p:sldId id="259" r:id="rId40"/>
  </p:sldIdLst>
  <p:sldSz cx="12192000" cy="6858000"/>
  <p:notesSz cx="6858000" cy="9144000"/>
  <p:defaultTextStyle>
    <a:lvl1pPr marL="0" lvl="0" algn="l" defTabSz="914400">
      <a:defRPr sz="1800" kern="1200">
        <a:solidFill>
          <a:schemeClr val="tx1"/>
        </a:solidFill>
        <a:latin typeface="Arial"/>
        <a:ea typeface="思源黑体 CN Normal"/>
      </a:defRPr>
    </a:lvl1pPr>
    <a:lvl2pPr marL="457200" lvl="1" algn="l" defTabSz="914400">
      <a:defRPr sz="1800" kern="1200">
        <a:solidFill>
          <a:schemeClr val="tx1"/>
        </a:solidFill>
        <a:latin typeface="Arial"/>
        <a:ea typeface="思源黑体 CN Normal"/>
      </a:defRPr>
    </a:lvl2pPr>
    <a:lvl3pPr marL="914400" lvl="2" algn="l" defTabSz="914400">
      <a:defRPr sz="1800" kern="1200">
        <a:solidFill>
          <a:schemeClr val="tx1"/>
        </a:solidFill>
        <a:latin typeface="Arial"/>
        <a:ea typeface="思源黑体 CN Normal"/>
      </a:defRPr>
    </a:lvl3pPr>
    <a:lvl4pPr marL="1371600" lvl="3" algn="l" defTabSz="914400">
      <a:defRPr sz="1800" kern="1200">
        <a:solidFill>
          <a:schemeClr val="tx1"/>
        </a:solidFill>
        <a:latin typeface="Arial"/>
        <a:ea typeface="思源黑体 CN Normal"/>
      </a:defRPr>
    </a:lvl4pPr>
    <a:lvl5pPr marL="1828800" lvl="4" algn="l" defTabSz="914400">
      <a:defRPr sz="1800" kern="1200">
        <a:solidFill>
          <a:schemeClr val="tx1"/>
        </a:solidFill>
        <a:latin typeface="Arial"/>
        <a:ea typeface="思源黑体 CN Normal"/>
      </a:defRPr>
    </a:lvl5pPr>
    <a:lvl6pPr marL="2286000" lvl="5" algn="l" defTabSz="914400">
      <a:defRPr sz="1800" kern="1200">
        <a:solidFill>
          <a:schemeClr val="tx1"/>
        </a:solidFill>
        <a:latin typeface="Arial"/>
        <a:ea typeface="思源黑体 CN Normal"/>
      </a:defRPr>
    </a:lvl6pPr>
    <a:lvl7pPr marL="2743200" lvl="6" algn="l" defTabSz="914400">
      <a:defRPr sz="1800" kern="1200">
        <a:solidFill>
          <a:schemeClr val="tx1"/>
        </a:solidFill>
        <a:latin typeface="Arial"/>
        <a:ea typeface="思源黑体 CN Normal"/>
      </a:defRPr>
    </a:lvl7pPr>
    <a:lvl8pPr marL="3200400" lvl="7" algn="l" defTabSz="914400">
      <a:defRPr sz="1800" kern="1200">
        <a:solidFill>
          <a:schemeClr val="tx1"/>
        </a:solidFill>
        <a:latin typeface="Arial"/>
        <a:ea typeface="思源黑体 CN Normal"/>
      </a:defRPr>
    </a:lvl8pPr>
    <a:lvl9pPr marL="3657600" lvl="8" algn="l" defTabSz="914400">
      <a:defRPr sz="1800" kern="1200">
        <a:solidFill>
          <a:schemeClr val="tx1"/>
        </a:solidFill>
        <a:latin typeface="Arial"/>
        <a:ea typeface="思源黑体 CN Norm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69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688DB5-2748-4763-AA44-2652FB950C58}" type="datetimeFigureOut">
              <a:rPr lang="zh-CN" altLang="zh-CN"/>
              <a:t>2025/8/14</a:t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6EE64C-7768-4BF2-B0F2-E52077EEA38F}" type="slidenum">
              <a:rPr lang="zh-CN" altLang="zh-CN"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369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5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388FDED-8AC4-4387-84B7-F232E9A60820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6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C259D83-6EC2-495B-BB4C-C90F978E7C6D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5EDCB63-ACE5-45EE-A324-C9C54F745BB5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FDEE7B0-348F-41A4-B586-659C4B238FF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3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ED135D-79AC-43A3-AC2A-CEE3BD09A75C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24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5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92DD1A-C12A-4C56-8EB3-0ECE086A68AD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AA2649-176C-4303-AA38-1C35CB4E47E9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3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AD3735-B4A1-4F86-9F59-EE888253E53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6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7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8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9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62944D-174E-41B9-B091-0180E005A50A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40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1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667476-1D8B-4471-8EF9-4540179A52B1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4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3241AC-6015-4C82-A632-06D1481E6371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45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6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0D6CA5-FC24-418B-9E73-75092D2C9C50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F527AC-881B-4354-B665-C4D90B149AFE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49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0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9CF8C4-817C-4187-8889-8C8DEE8601B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F3E1D3-BD2B-4A45-BD19-AB6486FBD6A3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5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6F19DBF-5199-4905-9DAF-A9A64752865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1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2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C98139E-71D4-4D02-888B-95A4DFCEDB9E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63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4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320CF6B-DDE2-4C55-8CEF-7632ED606A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7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0DC09-D1B4-4CB3-869F-A99CB17E920D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6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E58745-1A9A-48FD-9B5A-E96CEAD0D6B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6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A76192-DE18-4592-B099-FE1CE0D6AFA9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1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8410CB-5F0D-4177-A41C-0A20CCDA13E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</p:sldLayoutIdLst>
  <p:hf sldNum="0" hdr="0" ftr="0" dt="0"/>
  <p:txStyles>
    <p:titleStyle>
      <a:lvl1pPr lvl="0" algn="ctr" defTabSz="457200">
        <a:spcBef>
          <a:spcPct val="1"/>
        </a:spcBef>
        <a:buNone/>
        <a:defRPr sz="2200" kern="1200">
          <a:solidFill>
            <a:schemeClr val="tx1"/>
          </a:solidFill>
          <a:latin typeface="Arial"/>
          <a:ea typeface="思源黑体 CN Normal"/>
        </a:defRPr>
      </a:lvl1pPr>
    </p:titleStyle>
    <p:bodyStyle>
      <a:lvl1pPr marL="171450" lvl="0" indent="-171450" algn="l" defTabSz="457200">
        <a:spcBef>
          <a:spcPct val="10000"/>
        </a:spcBef>
        <a:buFont typeface="Arial" charset="0"/>
        <a:buChar char="•"/>
        <a:defRPr sz="1600" kern="1200">
          <a:solidFill>
            <a:schemeClr val="tx1"/>
          </a:solidFill>
          <a:latin typeface="Arial"/>
          <a:ea typeface="思源黑体 CN Normal"/>
        </a:defRPr>
      </a:lvl1pPr>
      <a:lvl2pPr marL="371475" lvl="1" indent="-142875" algn="l" defTabSz="457200">
        <a:spcBef>
          <a:spcPct val="10000"/>
        </a:spcBef>
        <a:buFont typeface="Arial" charset="0"/>
        <a:buChar char="–"/>
        <a:defRPr sz="1400" kern="1200">
          <a:solidFill>
            <a:schemeClr val="tx1"/>
          </a:solidFill>
          <a:latin typeface="Arial"/>
          <a:ea typeface="思源黑体 CN Normal"/>
        </a:defRPr>
      </a:lvl2pPr>
      <a:lvl3pPr marL="571500" lvl="2" indent="-114300" algn="l" defTabSz="457200">
        <a:spcBef>
          <a:spcPct val="10000"/>
        </a:spcBef>
        <a:buFont typeface="Arial" charset="0"/>
        <a:buChar char="•"/>
        <a:defRPr sz="1200" kern="1200">
          <a:solidFill>
            <a:schemeClr val="tx1"/>
          </a:solidFill>
          <a:latin typeface="Arial"/>
          <a:ea typeface="思源黑体 CN Normal"/>
        </a:defRPr>
      </a:lvl3pPr>
      <a:lvl4pPr marL="800100" lvl="3" indent="-114300" algn="l" defTabSz="457200">
        <a:spcBef>
          <a:spcPct val="10000"/>
        </a:spcBef>
        <a:buFont typeface="Arial" charset="0"/>
        <a:buChar char="–"/>
        <a:defRPr sz="1000" kern="1200">
          <a:solidFill>
            <a:schemeClr val="tx1"/>
          </a:solidFill>
          <a:latin typeface="Arial"/>
          <a:ea typeface="思源黑体 CN Normal"/>
        </a:defRPr>
      </a:lvl4pPr>
      <a:lvl5pPr marL="1028700" lvl="4" indent="-114300" algn="l" defTabSz="457200">
        <a:spcBef>
          <a:spcPct val="10000"/>
        </a:spcBef>
        <a:buFont typeface="Arial" charset="0"/>
        <a:buChar char="»"/>
        <a:defRPr sz="1000" kern="1200">
          <a:solidFill>
            <a:schemeClr val="tx1"/>
          </a:solidFill>
          <a:latin typeface="Arial"/>
          <a:ea typeface="思源黑体 CN Normal"/>
        </a:defRPr>
      </a:lvl5pPr>
      <a:lvl6pPr marL="1257300" lvl="5" indent="-114300" algn="l" defTabSz="457200">
        <a:spcBef>
          <a:spcPct val="10000"/>
        </a:spcBef>
        <a:buFont typeface="Arial" charset="0"/>
        <a:buChar char="•"/>
        <a:defRPr sz="1000" kern="1200">
          <a:solidFill>
            <a:schemeClr val="tx1"/>
          </a:solidFill>
          <a:latin typeface="Arial"/>
          <a:ea typeface="思源黑体 CN Normal"/>
        </a:defRPr>
      </a:lvl6pPr>
      <a:lvl7pPr marL="1485900" lvl="6" indent="-114300" algn="l" defTabSz="457200">
        <a:spcBef>
          <a:spcPct val="10000"/>
        </a:spcBef>
        <a:buFont typeface="Arial" charset="0"/>
        <a:buChar char="•"/>
        <a:defRPr sz="1000" kern="1200">
          <a:solidFill>
            <a:schemeClr val="tx1"/>
          </a:solidFill>
          <a:latin typeface="Arial"/>
          <a:ea typeface="思源黑体 CN Normal"/>
        </a:defRPr>
      </a:lvl7pPr>
      <a:lvl8pPr marL="1714500" lvl="7" indent="-114300" algn="l" defTabSz="457200">
        <a:spcBef>
          <a:spcPct val="10000"/>
        </a:spcBef>
        <a:buFont typeface="Arial" charset="0"/>
        <a:buChar char="•"/>
        <a:defRPr sz="1000" kern="1200">
          <a:solidFill>
            <a:schemeClr val="tx1"/>
          </a:solidFill>
          <a:latin typeface="Arial"/>
          <a:ea typeface="思源黑体 CN Normal"/>
        </a:defRPr>
      </a:lvl8pPr>
      <a:lvl9pPr marL="1943100" lvl="8" indent="-114300" algn="l" defTabSz="457200">
        <a:spcBef>
          <a:spcPct val="10000"/>
        </a:spcBef>
        <a:buFont typeface="Arial" charset="0"/>
        <a:buChar char="•"/>
        <a:defRPr sz="1000" kern="1200">
          <a:solidFill>
            <a:schemeClr val="tx1"/>
          </a:solidFill>
          <a:latin typeface="Arial"/>
          <a:ea typeface="思源黑体 CN Normal"/>
        </a:defRPr>
      </a:lvl9pPr>
    </p:bodyStyle>
    <p:otherStyle>
      <a:lvl1pPr marL="0" lvl="0" algn="l" defTabSz="457200">
        <a:defRPr sz="900" kern="1200">
          <a:solidFill>
            <a:schemeClr val="tx1"/>
          </a:solidFill>
          <a:latin typeface="Arial"/>
          <a:ea typeface="思源黑体 CN Normal"/>
        </a:defRPr>
      </a:lvl1pPr>
      <a:lvl2pPr marL="228600" lvl="1" algn="l" defTabSz="457200">
        <a:defRPr sz="900" kern="1200">
          <a:solidFill>
            <a:schemeClr val="tx1"/>
          </a:solidFill>
          <a:latin typeface="Arial"/>
          <a:ea typeface="思源黑体 CN Normal"/>
        </a:defRPr>
      </a:lvl2pPr>
      <a:lvl3pPr marL="457200" lvl="2" algn="l" defTabSz="457200">
        <a:defRPr sz="900" kern="1200">
          <a:solidFill>
            <a:schemeClr val="tx1"/>
          </a:solidFill>
          <a:latin typeface="Arial"/>
          <a:ea typeface="思源黑体 CN Normal"/>
        </a:defRPr>
      </a:lvl3pPr>
      <a:lvl4pPr marL="685800" lvl="3" algn="l" defTabSz="457200">
        <a:defRPr sz="900" kern="1200">
          <a:solidFill>
            <a:schemeClr val="tx1"/>
          </a:solidFill>
          <a:latin typeface="Arial"/>
          <a:ea typeface="思源黑体 CN Normal"/>
        </a:defRPr>
      </a:lvl4pPr>
      <a:lvl5pPr marL="914400" lvl="4" algn="l" defTabSz="457200">
        <a:defRPr sz="900" kern="1200">
          <a:solidFill>
            <a:schemeClr val="tx1"/>
          </a:solidFill>
          <a:latin typeface="Arial"/>
          <a:ea typeface="思源黑体 CN Normal"/>
        </a:defRPr>
      </a:lvl5pPr>
      <a:lvl6pPr marL="1143000" lvl="5" algn="l" defTabSz="457200">
        <a:defRPr sz="900" kern="1200">
          <a:solidFill>
            <a:schemeClr val="tx1"/>
          </a:solidFill>
          <a:latin typeface="Arial"/>
          <a:ea typeface="思源黑体 CN Normal"/>
        </a:defRPr>
      </a:lvl6pPr>
      <a:lvl7pPr marL="1371600" lvl="6" algn="l" defTabSz="457200">
        <a:defRPr sz="900" kern="1200">
          <a:solidFill>
            <a:schemeClr val="tx1"/>
          </a:solidFill>
          <a:latin typeface="Arial"/>
          <a:ea typeface="思源黑体 CN Normal"/>
        </a:defRPr>
      </a:lvl7pPr>
      <a:lvl8pPr marL="1600200" lvl="7" algn="l" defTabSz="457200">
        <a:defRPr sz="900" kern="1200">
          <a:solidFill>
            <a:schemeClr val="tx1"/>
          </a:solidFill>
          <a:latin typeface="Arial"/>
          <a:ea typeface="思源黑体 CN Normal"/>
        </a:defRPr>
      </a:lvl8pPr>
      <a:lvl9pPr marL="1828800" lvl="8" algn="l" defTabSz="457200">
        <a:defRPr sz="900" kern="1200">
          <a:solidFill>
            <a:schemeClr val="tx1"/>
          </a:solidFill>
          <a:latin typeface="Arial"/>
          <a:ea typeface="思源黑体 CN Norm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7EC1A-0832-4F4B-B4B9-2DA28C3AEACD}" type="datetimeFigureOut">
              <a:rPr lang="en-US" altLang="zh-CN"/>
              <a:t>8/14/2025</a:t>
            </a:fld>
            <a:endParaRPr lang="zh-CN"/>
          </a:p>
        </p:txBody>
      </p:sp>
      <p:sp>
        <p:nvSpPr>
          <p:cNvPr id="6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7FF2C-A4C1-4D6B-B5D0-725D59A9584F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lvl="0"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/>
          </a:p>
        </p:txBody>
      </p:sp>
      <p:sp>
        <p:nvSpPr>
          <p:cNvPr id="16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/>
          </a:p>
        </p:txBody>
      </p:sp>
      <p:sp>
        <p:nvSpPr>
          <p:cNvPr id="22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sp>
        <p:nvSpPr>
          <p:cNvPr id="23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16" userDrawn="1">
          <p15:clr>
            <a:srgbClr val="F26B43"/>
          </p15:clr>
        </p15:guide>
        <p15:guide id="8" pos="7256" userDrawn="1">
          <p15:clr>
            <a:srgbClr val="F26B43"/>
          </p15:clr>
        </p15:guide>
        <p15:guide id="9" orient="horz" pos="648" userDrawn="1">
          <p15:clr>
            <a:srgbClr val="F26B43"/>
          </p15:clr>
        </p15:guide>
        <p15:guide id="10" orient="horz" pos="712" userDrawn="1">
          <p15:clr>
            <a:srgbClr val="F26B43"/>
          </p15:clr>
        </p15:guide>
        <p15:guide id="11" orient="horz" pos="3928" userDrawn="1">
          <p15:clr>
            <a:srgbClr val="F26B43"/>
          </p15:clr>
        </p15:guide>
        <p15:guide id="12" orient="horz" pos="386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/>
          </a:p>
        </p:txBody>
      </p:sp>
      <p:sp>
        <p:nvSpPr>
          <p:cNvPr id="28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sp>
        <p:nvSpPr>
          <p:cNvPr id="29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16" userDrawn="1">
          <p15:clr>
            <a:srgbClr val="F26B43"/>
          </p15:clr>
        </p15:guide>
        <p15:guide id="8" pos="7256" userDrawn="1">
          <p15:clr>
            <a:srgbClr val="F26B43"/>
          </p15:clr>
        </p15:guide>
        <p15:guide id="9" orient="horz" pos="648" userDrawn="1">
          <p15:clr>
            <a:srgbClr val="F26B43"/>
          </p15:clr>
        </p15:guide>
        <p15:guide id="10" orient="horz" pos="712" userDrawn="1">
          <p15:clr>
            <a:srgbClr val="F26B43"/>
          </p15:clr>
        </p15:guide>
        <p15:guide id="11" orient="horz" pos="3928" userDrawn="1">
          <p15:clr>
            <a:srgbClr val="F26B43"/>
          </p15:clr>
        </p15:guide>
        <p15:guide id="12" orient="horz" pos="386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5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6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/>
          </a:p>
        </p:txBody>
      </p:sp>
      <p:sp>
        <p:nvSpPr>
          <p:cNvPr id="40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sp>
        <p:nvSpPr>
          <p:cNvPr id="41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16" userDrawn="1">
          <p15:clr>
            <a:srgbClr val="F26B43"/>
          </p15:clr>
        </p15:guide>
        <p15:guide id="8" pos="7256" userDrawn="1">
          <p15:clr>
            <a:srgbClr val="F26B43"/>
          </p15:clr>
        </p15:guide>
        <p15:guide id="9" orient="horz" pos="648" userDrawn="1">
          <p15:clr>
            <a:srgbClr val="F26B43"/>
          </p15:clr>
        </p15:guide>
        <p15:guide id="10" orient="horz" pos="712" userDrawn="1">
          <p15:clr>
            <a:srgbClr val="F26B43"/>
          </p15:clr>
        </p15:guide>
        <p15:guide id="11" orient="horz" pos="3928" userDrawn="1">
          <p15:clr>
            <a:srgbClr val="F26B43"/>
          </p15:clr>
        </p15:guide>
        <p15:guide id="12" orient="horz" pos="3864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/>
          </a:p>
        </p:txBody>
      </p:sp>
      <p:sp>
        <p:nvSpPr>
          <p:cNvPr id="46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7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8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306"/>
          <p:cNvSpPr txBox="1"/>
          <p:nvPr/>
        </p:nvSpPr>
        <p:spPr>
          <a:xfrm>
            <a:off x="1257300" y="5351779"/>
            <a:ext cx="9677400" cy="1234077"/>
          </a:xfrm>
          <a:prstGeom prst="rect">
            <a:avLst/>
          </a:prstGeom>
        </p:spPr>
        <p:txBody>
          <a:bodyPr vert="horz" anchor="t" anchorCtr="0">
            <a:noAutofit/>
          </a:bodyPr>
          <a:lstStyle/>
          <a:p>
            <a:pPr lvl="0" algn="ctr">
              <a:lnSpc>
                <a:spcPct val="113999"/>
              </a:lnSpc>
            </a:pPr>
            <a:r>
              <a:rPr lang="en-US" altLang="zh-CN" sz="3200" dirty="0">
                <a:solidFill>
                  <a:srgbClr val="000000">
                    <a:alpha val="100000"/>
                  </a:srgbClr>
                </a:solidFill>
              </a:rPr>
              <a:t>a-cockpit</a:t>
            </a:r>
            <a:r>
              <a:rPr lang="zh-CN" altLang="en-US" sz="3200" dirty="0">
                <a:solidFill>
                  <a:srgbClr val="000000">
                    <a:alpha val="100000"/>
                  </a:srgbClr>
                </a:solidFill>
              </a:rPr>
              <a:t>概述</a:t>
            </a:r>
            <a:endParaRPr lang="zh-CN" altLang="en-US" dirty="0"/>
          </a:p>
          <a:p>
            <a:pPr lvl="0" algn="r">
              <a:lnSpc>
                <a:spcPct val="113999"/>
              </a:lnSpc>
            </a:pPr>
            <a:r>
              <a:rPr lang="zh-CN" altLang="en-US" sz="2400" dirty="0">
                <a:solidFill>
                  <a:srgbClr val="000000">
                    <a:alpha val="100000"/>
                  </a:srgbClr>
                </a:solidFill>
              </a:rPr>
              <a:t>睿赛德电子科技有限公司</a:t>
            </a:r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" y="63"/>
            <a:ext cx="12192000" cy="5018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8505E-8700-CFD3-641D-5F0DDB74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295" y="1709739"/>
            <a:ext cx="5927155" cy="2629180"/>
          </a:xfrm>
        </p:spPr>
        <p:txBody>
          <a:bodyPr>
            <a:normAutofit/>
          </a:bodyPr>
          <a:lstStyle/>
          <a:p>
            <a:r>
              <a:rPr lang="en-US" altLang="zh-CN" sz="5400" dirty="0">
                <a:latin typeface="Segoe UI" panose="020B0502040204020203" pitchFamily="34" charset="0"/>
                <a:ea typeface="等线" panose="02010600030101010101" pitchFamily="2" charset="-122"/>
              </a:rPr>
              <a:t>a-cockpit</a:t>
            </a:r>
            <a:r>
              <a:rPr lang="zh-CN" altLang="en-US" sz="5400" dirty="0">
                <a:latin typeface="Segoe UI" panose="020B0502040204020203" pitchFamily="34" charset="0"/>
                <a:ea typeface="等线" panose="02010600030101010101" pitchFamily="2" charset="-122"/>
              </a:rPr>
              <a:t>总体架构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9EEA4F12-C0C8-4AA2-E49A-9F25492512D9}"/>
              </a:ext>
            </a:extLst>
          </p:cNvPr>
          <p:cNvSpPr txBox="1"/>
          <p:nvPr/>
        </p:nvSpPr>
        <p:spPr>
          <a:xfrm>
            <a:off x="1341690" y="1365389"/>
            <a:ext cx="4117602" cy="357867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682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PART</a:t>
            </a:r>
            <a:r>
              <a:rPr lang="en-US" altLang="zh-CN" sz="2265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1</a:t>
            </a:r>
            <a:endParaRPr lang="zh-CN" altLang="en-US" sz="22655" b="1" dirty="0">
              <a:solidFill>
                <a:srgbClr val="1F608B">
                  <a:lumMod val="60000"/>
                  <a:lumOff val="40000"/>
                </a:srgbClr>
              </a:solidFill>
              <a:latin typeface="Segoe UI" panose="020B0502040204020203" pitchFamily="34" charset="0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grpSp>
        <p:nvGrpSpPr>
          <p:cNvPr id="3" name="组合 30">
            <a:extLst>
              <a:ext uri="{FF2B5EF4-FFF2-40B4-BE49-F238E27FC236}">
                <a16:creationId xmlns:a16="http://schemas.microsoft.com/office/drawing/2014/main" id="{9B3713D3-8BC3-4665-6FFF-FCF92A594CFD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6306248"/>
            <a:chExt cx="12192635" cy="551815"/>
          </a:xfrm>
        </p:grpSpPr>
        <p:sp>
          <p:nvSpPr>
            <p:cNvPr id="10" name="矩形 10">
              <a:extLst>
                <a:ext uri="{FF2B5EF4-FFF2-40B4-BE49-F238E27FC236}">
                  <a16:creationId xmlns:a16="http://schemas.microsoft.com/office/drawing/2014/main" id="{E69B39C0-89AF-B2DA-690A-77645C180EF0}"/>
                </a:ext>
              </a:extLst>
            </p:cNvPr>
            <p:cNvSpPr/>
            <p:nvPr/>
          </p:nvSpPr>
          <p:spPr>
            <a:xfrm>
              <a:off x="63" y="6306248"/>
              <a:ext cx="12192635" cy="551815"/>
            </a:xfrm>
            <a:prstGeom prst="rect">
              <a:avLst/>
            </a:prstGeom>
            <a:gradFill flip="none"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0800000" scaled="1"/>
              <a:tileRect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1" name="文本框 11">
              <a:extLst>
                <a:ext uri="{FF2B5EF4-FFF2-40B4-BE49-F238E27FC236}">
                  <a16:creationId xmlns:a16="http://schemas.microsoft.com/office/drawing/2014/main" id="{E5FCA137-258C-48B2-8A50-FFBE5200EC15}"/>
                </a:ext>
              </a:extLst>
            </p:cNvPr>
            <p:cNvSpPr txBox="1"/>
            <p:nvPr/>
          </p:nvSpPr>
          <p:spPr>
            <a:xfrm>
              <a:off x="483235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12" name="文本框 12">
              <a:extLst>
                <a:ext uri="{FF2B5EF4-FFF2-40B4-BE49-F238E27FC236}">
                  <a16:creationId xmlns:a16="http://schemas.microsoft.com/office/drawing/2014/main" id="{CE5EF14A-CE83-64BF-2384-5114420AA8B2}"/>
                </a:ext>
              </a:extLst>
            </p:cNvPr>
            <p:cNvSpPr txBox="1"/>
            <p:nvPr/>
          </p:nvSpPr>
          <p:spPr>
            <a:xfrm>
              <a:off x="9050020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13" name="图片 13">
              <a:extLst>
                <a:ext uri="{FF2B5EF4-FFF2-40B4-BE49-F238E27FC236}">
                  <a16:creationId xmlns:a16="http://schemas.microsoft.com/office/drawing/2014/main" id="{282720EC-6522-F2AA-EB52-E9EC9E778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</a:blip>
            <a:stretch>
              <a:fillRect/>
            </a:stretch>
          </p:blipFill>
          <p:spPr>
            <a:xfrm>
              <a:off x="11198225" y="6379591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19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2CB1-A167-9C1E-94ED-9D2C7DF97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5378E-DDEB-24A5-50E0-3DBD2AA4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6" y="166345"/>
            <a:ext cx="10515600" cy="62954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a-cockpit</a:t>
            </a:r>
            <a:r>
              <a:rPr lang="zh-CN" altLang="en-US" dirty="0"/>
              <a:t>架构图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BB9D75-C915-6B9B-180A-3AD44F96B323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82EB4F5E-F4B6-797E-10C0-5D05D2F122DE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FB4DF5FA-0299-3F64-57D7-3FD7157CA9F7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68BDD428-7F47-79ED-7EB7-0D42E2B3DFD0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FD3D75E6-E1CB-CDE2-1EB4-158100B9C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D39CC37-B35D-635A-41A6-664E93963A8B}"/>
              </a:ext>
            </a:extLst>
          </p:cNvPr>
          <p:cNvGrpSpPr/>
          <p:nvPr/>
        </p:nvGrpSpPr>
        <p:grpSpPr>
          <a:xfrm>
            <a:off x="3274295" y="868110"/>
            <a:ext cx="5174701" cy="4909434"/>
            <a:chOff x="3473669" y="1085824"/>
            <a:chExt cx="5174701" cy="490943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7B7DCA5-3118-19BD-4C05-716F86C4EC88}"/>
                </a:ext>
              </a:extLst>
            </p:cNvPr>
            <p:cNvSpPr/>
            <p:nvPr/>
          </p:nvSpPr>
          <p:spPr>
            <a:xfrm>
              <a:off x="3473669" y="4401005"/>
              <a:ext cx="5156719" cy="1594253"/>
            </a:xfrm>
            <a:prstGeom prst="rect">
              <a:avLst/>
            </a:prstGeom>
            <a:solidFill>
              <a:srgbClr val="4472C4"/>
            </a:solidFill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A02B7D3-46CA-AF10-F807-8EFBF514AB82}"/>
                </a:ext>
              </a:extLst>
            </p:cNvPr>
            <p:cNvSpPr/>
            <p:nvPr/>
          </p:nvSpPr>
          <p:spPr>
            <a:xfrm>
              <a:off x="3480595" y="2846640"/>
              <a:ext cx="5142865" cy="1444625"/>
            </a:xfrm>
            <a:prstGeom prst="rect">
              <a:avLst/>
            </a:prstGeom>
            <a:solidFill>
              <a:srgbClr val="E7E6E6">
                <a:lumMod val="90000"/>
              </a:srgbClr>
            </a:solidFill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4C58C0-BF4B-2D90-8083-FA8097514882}"/>
                </a:ext>
              </a:extLst>
            </p:cNvPr>
            <p:cNvSpPr/>
            <p:nvPr/>
          </p:nvSpPr>
          <p:spPr>
            <a:xfrm>
              <a:off x="3481375" y="1085824"/>
              <a:ext cx="5166995" cy="93662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45C588A-F205-0225-5861-8F4B3EB4F214}"/>
                </a:ext>
              </a:extLst>
            </p:cNvPr>
            <p:cNvSpPr/>
            <p:nvPr/>
          </p:nvSpPr>
          <p:spPr>
            <a:xfrm>
              <a:off x="3544240" y="1487780"/>
              <a:ext cx="5011866" cy="505575"/>
            </a:xfrm>
            <a:prstGeom prst="rect">
              <a:avLst/>
            </a:prstGeom>
            <a:solidFill>
              <a:srgbClr val="ED7D31">
                <a:alpha val="43000"/>
              </a:srgbClr>
            </a:solidFill>
            <a:ln w="6350" cap="flat" cmpd="sng" algn="ctr">
              <a:solidFill>
                <a:srgbClr val="00B0F0">
                  <a:alpha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82803EA-8C1D-9AC5-2C3D-979C28FE81B0}"/>
                </a:ext>
              </a:extLst>
            </p:cNvPr>
            <p:cNvSpPr txBox="1"/>
            <p:nvPr/>
          </p:nvSpPr>
          <p:spPr>
            <a:xfrm>
              <a:off x="5653540" y="1451624"/>
              <a:ext cx="768723" cy="21544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默认应用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9D35281-EEB9-AD94-C9F2-DF16121E249F}"/>
                </a:ext>
              </a:extLst>
            </p:cNvPr>
            <p:cNvSpPr txBox="1"/>
            <p:nvPr/>
          </p:nvSpPr>
          <p:spPr>
            <a:xfrm>
              <a:off x="3754262" y="1690038"/>
              <a:ext cx="566915" cy="215444"/>
            </a:xfrm>
            <a:prstGeom prst="rect">
              <a:avLst/>
            </a:prstGeom>
            <a:solidFill>
              <a:srgbClr val="ED7D31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主界面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C2F4084-0DA6-09BC-0430-9F6A356EA334}"/>
                </a:ext>
              </a:extLst>
            </p:cNvPr>
            <p:cNvSpPr/>
            <p:nvPr/>
          </p:nvSpPr>
          <p:spPr>
            <a:xfrm>
              <a:off x="5026965" y="1718285"/>
              <a:ext cx="498457" cy="175895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  <a:alpha val="2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73E7226-4369-5A6D-E8E4-A15168BE82B2}"/>
                </a:ext>
              </a:extLst>
            </p:cNvPr>
            <p:cNvSpPr txBox="1"/>
            <p:nvPr/>
          </p:nvSpPr>
          <p:spPr>
            <a:xfrm>
              <a:off x="4641713" y="1700048"/>
              <a:ext cx="545522" cy="215444"/>
            </a:xfrm>
            <a:prstGeom prst="rect">
              <a:avLst/>
            </a:prstGeom>
            <a:solidFill>
              <a:srgbClr val="ED7D31"/>
            </a:solidFill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800">
                  <a:solidFill>
                    <a:schemeClr val="bg1"/>
                  </a:solidFill>
                  <a:latin typeface="Lato" panose="020F0502020204030203" charset="0"/>
                  <a:ea typeface="思源黑体 CN Regular" panose="020B0500000000000000" charset="-122"/>
                </a:defRPr>
              </a:lvl1pPr>
            </a:lstStyle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ADAS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76E8A5F-9327-D977-527F-B0BBB377663B}"/>
                </a:ext>
              </a:extLst>
            </p:cNvPr>
            <p:cNvSpPr txBox="1"/>
            <p:nvPr/>
          </p:nvSpPr>
          <p:spPr>
            <a:xfrm>
              <a:off x="5492918" y="1699220"/>
              <a:ext cx="655286" cy="215444"/>
            </a:xfrm>
            <a:prstGeom prst="rect">
              <a:avLst/>
            </a:prstGeom>
            <a:solidFill>
              <a:srgbClr val="ED7D31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手机投屏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25146F-620D-6124-2245-000CDDF5ADFA}"/>
                </a:ext>
              </a:extLst>
            </p:cNvPr>
            <p:cNvSpPr txBox="1"/>
            <p:nvPr/>
          </p:nvSpPr>
          <p:spPr>
            <a:xfrm>
              <a:off x="7629062" y="1697173"/>
              <a:ext cx="476351" cy="215444"/>
            </a:xfrm>
            <a:prstGeom prst="rect">
              <a:avLst/>
            </a:prstGeom>
            <a:solidFill>
              <a:srgbClr val="ED7D31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设置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A427E8-8D91-6F79-BB94-1494AA117E2F}"/>
                </a:ext>
              </a:extLst>
            </p:cNvPr>
            <p:cNvSpPr/>
            <p:nvPr/>
          </p:nvSpPr>
          <p:spPr>
            <a:xfrm>
              <a:off x="3487522" y="2091640"/>
              <a:ext cx="5142865" cy="647414"/>
            </a:xfrm>
            <a:prstGeom prst="rect">
              <a:avLst/>
            </a:prstGeom>
            <a:solidFill>
              <a:srgbClr val="70AD47">
                <a:lumMod val="60000"/>
                <a:lumOff val="40000"/>
              </a:srgbClr>
            </a:solidFill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54C40B9-437B-7FC4-B01F-73DFCB9A7020}"/>
                </a:ext>
              </a:extLst>
            </p:cNvPr>
            <p:cNvSpPr txBox="1"/>
            <p:nvPr/>
          </p:nvSpPr>
          <p:spPr>
            <a:xfrm>
              <a:off x="5324779" y="2058009"/>
              <a:ext cx="1688597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思源黑体 CN Regular" panose="020B0500000000000000" charset="-122"/>
                  <a:cs typeface="+mn-cs"/>
                  <a:sym typeface="+mn-ea"/>
                </a:rPr>
                <a:t>C-JS  Binging  Layer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41DC974-CDA2-2F02-C72A-613000AFC23C}"/>
                </a:ext>
              </a:extLst>
            </p:cNvPr>
            <p:cNvSpPr/>
            <p:nvPr/>
          </p:nvSpPr>
          <p:spPr>
            <a:xfrm>
              <a:off x="3945560" y="2340467"/>
              <a:ext cx="647700" cy="175895"/>
            </a:xfrm>
            <a:prstGeom prst="rect">
              <a:avLst/>
            </a:prstGeom>
            <a:solidFill>
              <a:srgbClr val="FFC000">
                <a:lumMod val="60000"/>
                <a:lumOff val="40000"/>
                <a:alpha val="5000"/>
              </a:srgbClr>
            </a:solidFill>
            <a:ln w="3175" cap="flat" cmpd="sng" algn="ctr">
              <a:solidFill>
                <a:sysClr val="window" lastClr="FFFFFF">
                  <a:lumMod val="75000"/>
                  <a:alpha val="2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5CA6031-0C6B-B78F-1F41-452CA67B3715}"/>
                </a:ext>
              </a:extLst>
            </p:cNvPr>
            <p:cNvSpPr txBox="1"/>
            <p:nvPr/>
          </p:nvSpPr>
          <p:spPr>
            <a:xfrm>
              <a:off x="3639617" y="2359557"/>
              <a:ext cx="878019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systemStorage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3BF8ECF-7FCB-9404-FA94-C4144F2E1628}"/>
                </a:ext>
              </a:extLst>
            </p:cNvPr>
            <p:cNvSpPr/>
            <p:nvPr/>
          </p:nvSpPr>
          <p:spPr>
            <a:xfrm>
              <a:off x="6045505" y="2340467"/>
              <a:ext cx="780415" cy="175895"/>
            </a:xfrm>
            <a:prstGeom prst="rect">
              <a:avLst/>
            </a:prstGeom>
            <a:solidFill>
              <a:srgbClr val="00B0F0">
                <a:alpha val="5000"/>
              </a:srgbClr>
            </a:solidFill>
            <a:ln w="3175" cap="flat" cmpd="sng" algn="ctr">
              <a:solidFill>
                <a:sysClr val="window" lastClr="FFFFFF">
                  <a:lumMod val="75000"/>
                  <a:alpha val="2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4861C90-E983-F328-4474-D31963AB6B3B}"/>
                </a:ext>
              </a:extLst>
            </p:cNvPr>
            <p:cNvSpPr txBox="1"/>
            <p:nvPr/>
          </p:nvSpPr>
          <p:spPr>
            <a:xfrm>
              <a:off x="4609448" y="2362277"/>
              <a:ext cx="373584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dcm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A63BB7B-082B-C83A-44AD-A0CC2F13CFF0}"/>
                </a:ext>
              </a:extLst>
            </p:cNvPr>
            <p:cNvSpPr txBox="1"/>
            <p:nvPr/>
          </p:nvSpPr>
          <p:spPr>
            <a:xfrm>
              <a:off x="5149631" y="2367440"/>
              <a:ext cx="427743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emq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9308180-7237-0309-2222-5766E846A445}"/>
                </a:ext>
              </a:extLst>
            </p:cNvPr>
            <p:cNvSpPr txBox="1"/>
            <p:nvPr/>
          </p:nvSpPr>
          <p:spPr>
            <a:xfrm>
              <a:off x="5782366" y="2362276"/>
              <a:ext cx="427743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tsdb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CAF0E53-6753-0052-1300-096A14DC690C}"/>
                </a:ext>
              </a:extLst>
            </p:cNvPr>
            <p:cNvSpPr txBox="1"/>
            <p:nvPr/>
          </p:nvSpPr>
          <p:spPr>
            <a:xfrm>
              <a:off x="6407690" y="2356179"/>
              <a:ext cx="427743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800">
                  <a:solidFill>
                    <a:schemeClr val="bg1"/>
                  </a:solidFill>
                  <a:latin typeface="Lato" panose="020F0502020204030203" charset="0"/>
                  <a:ea typeface="思源黑体 CN Regular" panose="020B0500000000000000" charset="-122"/>
                </a:defRPr>
              </a:lvl1pPr>
            </a:lstStyle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ubus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AD5BF10-C246-388B-6C6E-A3830D265784}"/>
                </a:ext>
              </a:extLst>
            </p:cNvPr>
            <p:cNvSpPr txBox="1"/>
            <p:nvPr/>
          </p:nvSpPr>
          <p:spPr>
            <a:xfrm>
              <a:off x="7001552" y="2355994"/>
              <a:ext cx="404918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tbox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F385A45-48CD-FC56-96AF-A6CFDF2C43EA}"/>
                </a:ext>
              </a:extLst>
            </p:cNvPr>
            <p:cNvSpPr txBox="1"/>
            <p:nvPr/>
          </p:nvSpPr>
          <p:spPr>
            <a:xfrm>
              <a:off x="5421300" y="1109955"/>
              <a:ext cx="1404620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  <a:sym typeface="+mn-ea"/>
                </a:rPr>
                <a:t>JS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+mn-ea"/>
                  <a:cs typeface="+mn-cs"/>
                  <a:sym typeface="+mn-ea"/>
                </a:rPr>
                <a:t>Applications</a:t>
              </a:r>
              <a:endParaRPr kumimoji="0" lang="en-US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  <a:sym typeface="+mn-ea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CF44200-8716-F0B7-3ACC-F500CDC2B474}"/>
                </a:ext>
              </a:extLst>
            </p:cNvPr>
            <p:cNvSpPr txBox="1"/>
            <p:nvPr/>
          </p:nvSpPr>
          <p:spPr>
            <a:xfrm>
              <a:off x="5355443" y="2869562"/>
              <a:ext cx="129984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等线" panose="020F0502020204030204"/>
                  <a:ea typeface="思源黑体 CN Regular" panose="020B0500000000000000" charset="-122"/>
                  <a:cs typeface="+mn-cs"/>
                  <a:sym typeface="+mn-ea"/>
                </a:rPr>
                <a:t>Native Services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604EDA1-5497-294C-E683-6EE252A8B5B4}"/>
                </a:ext>
              </a:extLst>
            </p:cNvPr>
            <p:cNvSpPr txBox="1"/>
            <p:nvPr/>
          </p:nvSpPr>
          <p:spPr>
            <a:xfrm>
              <a:off x="5276034" y="4443440"/>
              <a:ext cx="1745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思源黑体 CN Regular" panose="020B0500000000000000" charset="-122"/>
                  <a:cs typeface="+mn-cs"/>
                </a:rPr>
                <a:t>Linux Kernel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&amp; Drivers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6A7FD920-1037-8CEB-4C66-4DA5C050D6C0}"/>
                </a:ext>
              </a:extLst>
            </p:cNvPr>
            <p:cNvSpPr/>
            <p:nvPr/>
          </p:nvSpPr>
          <p:spPr>
            <a:xfrm>
              <a:off x="3685117" y="4752724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Display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C6B4E07E-A2F5-1477-569E-E32C0D83F0E6}"/>
                </a:ext>
              </a:extLst>
            </p:cNvPr>
            <p:cNvSpPr/>
            <p:nvPr/>
          </p:nvSpPr>
          <p:spPr>
            <a:xfrm>
              <a:off x="3695264" y="5190979"/>
              <a:ext cx="903795" cy="317432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Flash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67753ADD-48FA-E8DC-9D6A-1024BB7A3813}"/>
                </a:ext>
              </a:extLst>
            </p:cNvPr>
            <p:cNvSpPr/>
            <p:nvPr/>
          </p:nvSpPr>
          <p:spPr>
            <a:xfrm>
              <a:off x="3701090" y="5596925"/>
              <a:ext cx="909513" cy="269845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VAD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EAFF09C6-8D5B-2A6A-8062-2ECB02CAA3BE}"/>
                </a:ext>
              </a:extLst>
            </p:cNvPr>
            <p:cNvSpPr/>
            <p:nvPr/>
          </p:nvSpPr>
          <p:spPr>
            <a:xfrm>
              <a:off x="4800063" y="4764723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Bluetooth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A68DD641-CE48-B7D3-C00C-E18857BB128E}"/>
                </a:ext>
              </a:extLst>
            </p:cNvPr>
            <p:cNvSpPr/>
            <p:nvPr/>
          </p:nvSpPr>
          <p:spPr>
            <a:xfrm>
              <a:off x="6001744" y="4771394"/>
              <a:ext cx="984180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USB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8B89A02D-F894-935F-F076-ABAFC3BF217C}"/>
                </a:ext>
              </a:extLst>
            </p:cNvPr>
            <p:cNvSpPr/>
            <p:nvPr/>
          </p:nvSpPr>
          <p:spPr>
            <a:xfrm>
              <a:off x="7259035" y="4752198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Audio Drivers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E035BE30-88C8-1D49-A021-0EE9E81AAE3C}"/>
                </a:ext>
              </a:extLst>
            </p:cNvPr>
            <p:cNvSpPr/>
            <p:nvPr/>
          </p:nvSpPr>
          <p:spPr>
            <a:xfrm>
              <a:off x="4786997" y="5191321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WiFi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A9C09644-4282-7105-F586-AFFF40CAF208}"/>
                </a:ext>
              </a:extLst>
            </p:cNvPr>
            <p:cNvSpPr/>
            <p:nvPr/>
          </p:nvSpPr>
          <p:spPr>
            <a:xfrm>
              <a:off x="4782786" y="5590626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DDR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F33B0CA4-53DF-6C17-DD1D-4C068D36D9AE}"/>
                </a:ext>
              </a:extLst>
            </p:cNvPr>
            <p:cNvSpPr/>
            <p:nvPr/>
          </p:nvSpPr>
          <p:spPr>
            <a:xfrm>
              <a:off x="5998576" y="5198131"/>
              <a:ext cx="987348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Power Management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3CE2A388-0A81-A268-637B-E6A2E32DD98F}"/>
                </a:ext>
              </a:extLst>
            </p:cNvPr>
            <p:cNvSpPr/>
            <p:nvPr/>
          </p:nvSpPr>
          <p:spPr>
            <a:xfrm>
              <a:off x="7247517" y="5204687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Input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5D3DAE6-E2F4-BD0E-D798-49F578102614}"/>
                </a:ext>
              </a:extLst>
            </p:cNvPr>
            <p:cNvSpPr/>
            <p:nvPr/>
          </p:nvSpPr>
          <p:spPr>
            <a:xfrm>
              <a:off x="5985501" y="5610048"/>
              <a:ext cx="1010197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Camera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6BC88B71-3624-B44E-BF63-3FE5290DFB86}"/>
                </a:ext>
              </a:extLst>
            </p:cNvPr>
            <p:cNvSpPr/>
            <p:nvPr/>
          </p:nvSpPr>
          <p:spPr>
            <a:xfrm>
              <a:off x="7252655" y="5625405"/>
              <a:ext cx="903795" cy="307593"/>
            </a:xfrm>
            <a:prstGeom prst="round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SDMMC Driver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689D743B-750E-FBA9-507C-20BF26AC14FB}"/>
                </a:ext>
              </a:extLst>
            </p:cNvPr>
            <p:cNvSpPr txBox="1"/>
            <p:nvPr/>
          </p:nvSpPr>
          <p:spPr>
            <a:xfrm>
              <a:off x="6406518" y="1702146"/>
              <a:ext cx="939001" cy="215444"/>
            </a:xfrm>
            <a:prstGeom prst="rect">
              <a:avLst/>
            </a:prstGeom>
            <a:solidFill>
              <a:srgbClr val="ED7D31"/>
            </a:solidFill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800">
                  <a:solidFill>
                    <a:schemeClr val="bg1"/>
                  </a:solidFill>
                  <a:latin typeface="Lato" panose="020F0502020204030203" charset="0"/>
                  <a:ea typeface="思源黑体 CN Regular" panose="020B0500000000000000" charset="-122"/>
                </a:defRPr>
              </a:lvl1pPr>
            </a:lstStyle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行车记录仪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(DVR)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0B55D0E9-B49D-28AF-422A-8D49F4EDBBB1}"/>
                </a:ext>
              </a:extLst>
            </p:cNvPr>
            <p:cNvSpPr/>
            <p:nvPr/>
          </p:nvSpPr>
          <p:spPr>
            <a:xfrm>
              <a:off x="3613080" y="3245036"/>
              <a:ext cx="609612" cy="318209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persim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C984ED88-6824-9F93-574E-C03944783CEE}"/>
                </a:ext>
              </a:extLst>
            </p:cNvPr>
            <p:cNvSpPr/>
            <p:nvPr/>
          </p:nvSpPr>
          <p:spPr>
            <a:xfrm>
              <a:off x="4357305" y="3245036"/>
              <a:ext cx="867873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motocycle-adas-dvr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A4ADBC45-4AD3-4999-E660-3888F126AD2D}"/>
                </a:ext>
              </a:extLst>
            </p:cNvPr>
            <p:cNvSpPr/>
            <p:nvPr/>
          </p:nvSpPr>
          <p:spPr>
            <a:xfrm>
              <a:off x="5363151" y="3245036"/>
              <a:ext cx="846016" cy="333006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motocycle-tbox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2CF5309F-767D-BE35-BDCA-F39AC5629787}"/>
                </a:ext>
              </a:extLst>
            </p:cNvPr>
            <p:cNvSpPr/>
            <p:nvPr/>
          </p:nvSpPr>
          <p:spPr>
            <a:xfrm>
              <a:off x="6345539" y="3245036"/>
              <a:ext cx="905245" cy="333006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-audio-</a:t>
              </a: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recog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75DFED3A-63E3-1B70-656E-900F212EEE96}"/>
                </a:ext>
              </a:extLst>
            </p:cNvPr>
            <p:cNvSpPr/>
            <p:nvPr/>
          </p:nvSpPr>
          <p:spPr>
            <a:xfrm>
              <a:off x="3652509" y="3836013"/>
              <a:ext cx="609612" cy="333006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multi media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823EEE22-8777-A5C2-A68D-4F4D066ED4A6}"/>
                </a:ext>
              </a:extLst>
            </p:cNvPr>
            <p:cNvSpPr/>
            <p:nvPr/>
          </p:nvSpPr>
          <p:spPr>
            <a:xfrm>
              <a:off x="7368485" y="3245035"/>
              <a:ext cx="451898" cy="313587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WiFi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B3F4CE17-452C-41ED-F229-32CC53F3D34B}"/>
                </a:ext>
              </a:extLst>
            </p:cNvPr>
            <p:cNvSpPr/>
            <p:nvPr/>
          </p:nvSpPr>
          <p:spPr>
            <a:xfrm>
              <a:off x="4381712" y="3839194"/>
              <a:ext cx="814700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motocycle-ota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8B9A073E-0E58-35E9-EBA1-71D67205A140}"/>
                </a:ext>
              </a:extLst>
            </p:cNvPr>
            <p:cNvSpPr/>
            <p:nvPr/>
          </p:nvSpPr>
          <p:spPr>
            <a:xfrm>
              <a:off x="5336468" y="3839037"/>
              <a:ext cx="814700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-sensor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E2178DF-DBE0-495A-C3A0-8FAEF303F8EB}"/>
                </a:ext>
              </a:extLst>
            </p:cNvPr>
            <p:cNvSpPr/>
            <p:nvPr/>
          </p:nvSpPr>
          <p:spPr>
            <a:xfrm>
              <a:off x="6292477" y="3839037"/>
              <a:ext cx="814700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motocycle-psmirror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DB3D7B68-E214-3AD8-0D07-4C657B9B88BA}"/>
                </a:ext>
              </a:extLst>
            </p:cNvPr>
            <p:cNvSpPr/>
            <p:nvPr/>
          </p:nvSpPr>
          <p:spPr>
            <a:xfrm>
              <a:off x="7188939" y="3839036"/>
              <a:ext cx="799892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kern="0" dirty="0" err="1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motocycle</a:t>
              </a:r>
              <a:r>
                <a:rPr lang="en-US" altLang="zh-CN" sz="1000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-info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9F8E71E0-9578-13C0-F0AA-144F31C06FEC}"/>
                </a:ext>
              </a:extLst>
            </p:cNvPr>
            <p:cNvSpPr/>
            <p:nvPr/>
          </p:nvSpPr>
          <p:spPr>
            <a:xfrm>
              <a:off x="8098559" y="3839036"/>
              <a:ext cx="451898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Log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305E03E-2DE3-70FB-4017-06E859D3E1A7}"/>
                </a:ext>
              </a:extLst>
            </p:cNvPr>
            <p:cNvSpPr txBox="1"/>
            <p:nvPr/>
          </p:nvSpPr>
          <p:spPr>
            <a:xfrm>
              <a:off x="7533821" y="2350782"/>
              <a:ext cx="939289" cy="215444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 rtlCol="0" anchor="t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charset="0"/>
                  <a:ea typeface="思源黑体 CN Regular" panose="020B0500000000000000" charset="-122"/>
                  <a:cs typeface="+mn-cs"/>
                  <a:sym typeface="+mn-ea"/>
                </a:rPr>
                <a:t>network access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charset="0"/>
                <a:ea typeface="思源黑体 CN Regular" panose="020B0500000000000000" charset="-122"/>
                <a:cs typeface="+mn-cs"/>
                <a:sym typeface="+mn-ea"/>
              </a:endParaRPr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3D8E15E0-3122-CDA3-6077-2FA520198734}"/>
                </a:ext>
              </a:extLst>
            </p:cNvPr>
            <p:cNvSpPr/>
            <p:nvPr/>
          </p:nvSpPr>
          <p:spPr>
            <a:xfrm>
              <a:off x="7907474" y="3245035"/>
              <a:ext cx="648632" cy="32220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vendorstorage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66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65BC2-445A-47EB-0E8A-34569EF0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366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应用层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3991B-BBD3-3379-C3E3-CA19D692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70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JS</a:t>
            </a:r>
            <a:r>
              <a:rPr lang="zh-CN" altLang="en-US" dirty="0"/>
              <a:t>的应用基于</a:t>
            </a:r>
            <a:r>
              <a:rPr lang="en-US" altLang="zh-CN" dirty="0"/>
              <a:t>Persim Studio</a:t>
            </a:r>
            <a:r>
              <a:rPr lang="zh-CN" altLang="en-US" dirty="0"/>
              <a:t>工具在</a:t>
            </a:r>
            <a:r>
              <a:rPr lang="en-US" altLang="zh-CN" dirty="0"/>
              <a:t>PC</a:t>
            </a:r>
            <a:r>
              <a:rPr lang="zh-CN" altLang="en-US" dirty="0"/>
              <a:t>开发，打包下载到开发板上直接运行</a:t>
            </a:r>
            <a:endParaRPr lang="en-US" altLang="zh-CN" dirty="0"/>
          </a:p>
          <a:p>
            <a:r>
              <a:rPr lang="en-US" altLang="zh-CN" dirty="0"/>
              <a:t>JS</a:t>
            </a:r>
            <a:r>
              <a:rPr lang="zh-CN" altLang="en-US" dirty="0"/>
              <a:t>的应用基于内置优化的</a:t>
            </a:r>
            <a:r>
              <a:rPr lang="en-US" altLang="zh-CN" dirty="0" err="1"/>
              <a:t>JerryScript</a:t>
            </a:r>
            <a:r>
              <a:rPr lang="zh-CN" altLang="en-US" dirty="0"/>
              <a:t>脚本引擎，性能要比开源版</a:t>
            </a:r>
            <a:r>
              <a:rPr lang="en-US" altLang="zh-CN" dirty="0" err="1"/>
              <a:t>JerryScript</a:t>
            </a:r>
            <a:r>
              <a:rPr lang="zh-CN" altLang="en-US" dirty="0"/>
              <a:t>脚本引擎高</a:t>
            </a:r>
            <a:r>
              <a:rPr lang="en-US" altLang="zh-CN" dirty="0"/>
              <a:t>10</a:t>
            </a:r>
            <a:r>
              <a:rPr lang="zh-CN" altLang="en-US" dirty="0"/>
              <a:t>倍以上</a:t>
            </a:r>
            <a:endParaRPr lang="en-US" altLang="zh-CN" dirty="0"/>
          </a:p>
          <a:p>
            <a:r>
              <a:rPr lang="en-US" altLang="zh-CN" dirty="0"/>
              <a:t>JS</a:t>
            </a:r>
            <a:r>
              <a:rPr lang="zh-CN" altLang="en-US" dirty="0"/>
              <a:t>的应用由一个个</a:t>
            </a:r>
            <a:r>
              <a:rPr lang="en-US" altLang="zh-CN" dirty="0"/>
              <a:t>page</a:t>
            </a:r>
            <a:r>
              <a:rPr lang="zh-CN" altLang="en-US" dirty="0"/>
              <a:t>页面组成，默认支持如下应用：</a:t>
            </a:r>
            <a:endParaRPr lang="en-US" altLang="zh-CN" dirty="0"/>
          </a:p>
          <a:p>
            <a:pPr lvl="1"/>
            <a:r>
              <a:rPr lang="zh-CN" altLang="en-US" dirty="0"/>
              <a:t>主界面</a:t>
            </a:r>
            <a:endParaRPr lang="en-US" altLang="zh-CN" dirty="0"/>
          </a:p>
          <a:p>
            <a:pPr lvl="1"/>
            <a:r>
              <a:rPr lang="zh-CN" altLang="en-US" dirty="0"/>
              <a:t>手机投屏</a:t>
            </a:r>
            <a:endParaRPr lang="en-US" altLang="zh-CN" dirty="0"/>
          </a:p>
          <a:p>
            <a:pPr lvl="1"/>
            <a:r>
              <a:rPr lang="zh-CN" altLang="en-US" dirty="0"/>
              <a:t>设置</a:t>
            </a:r>
            <a:endParaRPr lang="en-US" altLang="zh-CN" dirty="0"/>
          </a:p>
          <a:p>
            <a:pPr lvl="1"/>
            <a:r>
              <a:rPr lang="en-US" altLang="zh-CN" dirty="0"/>
              <a:t>ADAS</a:t>
            </a:r>
          </a:p>
          <a:p>
            <a:pPr lvl="1"/>
            <a:r>
              <a:rPr lang="zh-CN" altLang="en-US" dirty="0"/>
              <a:t>行车记录仪（</a:t>
            </a:r>
            <a:r>
              <a:rPr lang="en-US" altLang="zh-CN" dirty="0"/>
              <a:t>DVR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1B32A6E-30AD-8074-7FEF-BB6B0B701C1E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A993DB88-F47E-FA99-2309-7E8E7B57B842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DBDDBD2F-643C-B39C-CDB6-BAAB6C7C1ACA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2B8A3337-9293-8137-3DCB-EA1F76BCB318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69EC7765-2181-91C8-02C1-789238344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430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39D12-C1E0-BA15-D6A9-8E2B05DD9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r>
              <a:rPr lang="zh-CN" altLang="en-US" dirty="0"/>
              <a:t>主界面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FB3CB-756B-0683-D51F-6ED2C8EA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229"/>
            <a:ext cx="10515600" cy="3863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n-US" dirty="0"/>
              <a:t>主界面有两种显示模式：普通模式和运动模式。默认开机进入到普通模式，示意图如下：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D85B1C-9691-D63C-0BF5-F7BD1384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61" y="1893947"/>
            <a:ext cx="7026277" cy="41010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B97CA61-A2B3-8F85-F6EB-87C9F7395CA1}"/>
              </a:ext>
            </a:extLst>
          </p:cNvPr>
          <p:cNvSpPr txBox="1"/>
          <p:nvPr/>
        </p:nvSpPr>
        <p:spPr>
          <a:xfrm>
            <a:off x="374468" y="2024687"/>
            <a:ext cx="16894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常显信息可以在</a:t>
            </a:r>
            <a:r>
              <a:rPr lang="en-US" altLang="zh-CN" sz="1200" dirty="0"/>
              <a:t>setting</a:t>
            </a:r>
            <a:r>
              <a:rPr lang="zh-CN" altLang="en-US" sz="1200" dirty="0"/>
              <a:t>页面进行配置：</a:t>
            </a:r>
            <a:endParaRPr lang="en-US" altLang="zh-CN" sz="1200" dirty="0"/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当前车速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平均车速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最高车速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发动机转速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瞬时油耗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平均油耗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小计里程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总里程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剩余油量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当前水温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时间</a:t>
            </a:r>
            <a:endParaRPr lang="zh-CN" altLang="zh-CN" sz="1000" kern="100" dirty="0">
              <a:effectLst/>
              <a:latin typeface="+mn-lt"/>
              <a:ea typeface="宋体" panose="02010600030101010101" pitchFamily="2" charset="-122"/>
            </a:endParaRP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000" kern="100" dirty="0"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挡位状态</a:t>
            </a:r>
            <a:endParaRPr lang="en-US" altLang="zh-CN" sz="1000" kern="100" dirty="0">
              <a:solidFill>
                <a:srgbClr val="000000"/>
              </a:solidFill>
              <a:effectLst/>
              <a:latin typeface="+mn-lt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DC8F24-9EF5-C02F-22E0-17426A172195}"/>
              </a:ext>
            </a:extLst>
          </p:cNvPr>
          <p:cNvSpPr txBox="1"/>
          <p:nvPr/>
        </p:nvSpPr>
        <p:spPr>
          <a:xfrm>
            <a:off x="9875521" y="2020379"/>
            <a:ext cx="1820091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特定情况下显示信息，在收到特定消息后显示：</a:t>
            </a:r>
            <a:endParaRPr lang="en-US" altLang="zh-CN" sz="12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左转向灯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右转向灯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近光灯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远光灯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电池电压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ABS</a:t>
            </a:r>
            <a:r>
              <a:rPr lang="zh-CN" altLang="en-US" sz="1000" dirty="0"/>
              <a:t>指示灯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发动机故障指示灯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前轮胎压报警灯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后轮胎压报警灯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自动灯光状态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1200" dirty="0"/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8FF39DF-A706-DC73-9284-CAEB1E12E6F0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8" name="矩形 10">
              <a:extLst>
                <a:ext uri="{FF2B5EF4-FFF2-40B4-BE49-F238E27FC236}">
                  <a16:creationId xmlns:a16="http://schemas.microsoft.com/office/drawing/2014/main" id="{92F8E196-B6DE-59D7-1505-47F664173A61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9" name="文本框 11">
              <a:extLst>
                <a:ext uri="{FF2B5EF4-FFF2-40B4-BE49-F238E27FC236}">
                  <a16:creationId xmlns:a16="http://schemas.microsoft.com/office/drawing/2014/main" id="{DF604078-253B-581A-DDB0-A875EB4609DF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10" name="文本框 12">
              <a:extLst>
                <a:ext uri="{FF2B5EF4-FFF2-40B4-BE49-F238E27FC236}">
                  <a16:creationId xmlns:a16="http://schemas.microsoft.com/office/drawing/2014/main" id="{D439E915-5F8F-5FEF-F54E-0E6E06054304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11" name="图片 13">
              <a:extLst>
                <a:ext uri="{FF2B5EF4-FFF2-40B4-BE49-F238E27FC236}">
                  <a16:creationId xmlns:a16="http://schemas.microsoft.com/office/drawing/2014/main" id="{53B9FA91-9042-086B-0456-EAFD1A055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568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03E79-009B-82C4-3C00-7D7BE470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setting</a:t>
            </a:r>
            <a:r>
              <a:rPr lang="zh-CN" altLang="en-US" dirty="0"/>
              <a:t>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0E774-1812-EC3C-1CE3-25C0EAE1D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23"/>
            <a:ext cx="2383971" cy="4540341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000" dirty="0"/>
              <a:t>Setting</a:t>
            </a:r>
            <a:r>
              <a:rPr lang="zh-CN" altLang="en-US" sz="2000" dirty="0"/>
              <a:t>界面包括车辆设置和系统设置两部分：</a:t>
            </a:r>
            <a:endParaRPr lang="en-US" altLang="zh-CN" sz="2000" dirty="0"/>
          </a:p>
          <a:p>
            <a:r>
              <a:rPr lang="zh-CN" altLang="en-US" sz="2000" dirty="0"/>
              <a:t>车辆设置</a:t>
            </a:r>
            <a:endParaRPr lang="en-US" altLang="zh-CN" sz="2000" dirty="0"/>
          </a:p>
          <a:p>
            <a:pPr lvl="1"/>
            <a:r>
              <a:rPr lang="zh-CN" altLang="en-US" sz="1600" dirty="0"/>
              <a:t>我的车辆</a:t>
            </a:r>
          </a:p>
          <a:p>
            <a:pPr lvl="1"/>
            <a:r>
              <a:rPr lang="zh-CN" altLang="en-US" sz="1600" dirty="0"/>
              <a:t>胎压学习</a:t>
            </a:r>
            <a:endParaRPr lang="en-US" altLang="zh-CN" sz="1600" dirty="0"/>
          </a:p>
          <a:p>
            <a:r>
              <a:rPr lang="zh-CN" altLang="en-US" sz="2000" dirty="0"/>
              <a:t>系统设置</a:t>
            </a:r>
            <a:endParaRPr lang="en-US" altLang="zh-CN" sz="2000" dirty="0"/>
          </a:p>
          <a:p>
            <a:pPr lvl="1"/>
            <a:r>
              <a:rPr lang="zh-CN" altLang="en-US" sz="1600" dirty="0"/>
              <a:t>版本信息</a:t>
            </a:r>
            <a:endParaRPr lang="en-US" altLang="zh-CN" sz="1600" dirty="0"/>
          </a:p>
          <a:p>
            <a:pPr lvl="1"/>
            <a:r>
              <a:rPr lang="zh-CN" altLang="en-US" sz="1600" dirty="0"/>
              <a:t>时间</a:t>
            </a:r>
            <a:endParaRPr lang="en-US" altLang="zh-CN" sz="1600" dirty="0"/>
          </a:p>
          <a:p>
            <a:pPr lvl="1"/>
            <a:r>
              <a:rPr lang="zh-CN" altLang="en-US" sz="1600" dirty="0"/>
              <a:t>显示设置</a:t>
            </a:r>
            <a:endParaRPr lang="en-US" altLang="zh-CN" sz="1600" dirty="0"/>
          </a:p>
          <a:p>
            <a:pPr lvl="1"/>
            <a:r>
              <a:rPr lang="zh-CN" altLang="en-US" sz="1600" dirty="0"/>
              <a:t>行车信息</a:t>
            </a:r>
            <a:endParaRPr lang="en-US" altLang="zh-CN" sz="1600" dirty="0"/>
          </a:p>
          <a:p>
            <a:pPr lvl="1"/>
            <a:r>
              <a:rPr lang="en-US" altLang="zh-CN" sz="1600" dirty="0"/>
              <a:t>OBD</a:t>
            </a:r>
            <a:r>
              <a:rPr lang="zh-CN" altLang="en-US" sz="1600" dirty="0"/>
              <a:t>故障</a:t>
            </a:r>
            <a:endParaRPr lang="en-US" altLang="zh-CN" sz="1600" dirty="0"/>
          </a:p>
          <a:p>
            <a:pPr lvl="1"/>
            <a:r>
              <a:rPr lang="zh-CN" altLang="en-US" sz="1600" dirty="0"/>
              <a:t>智能终端</a:t>
            </a:r>
            <a:endParaRPr lang="en-US" altLang="zh-CN" sz="1600" dirty="0"/>
          </a:p>
          <a:p>
            <a:pPr lvl="1"/>
            <a:r>
              <a:rPr lang="zh-CN" altLang="en-US" sz="1600" dirty="0"/>
              <a:t>语言调整</a:t>
            </a:r>
            <a:endParaRPr lang="en-US" altLang="zh-CN" sz="1600" dirty="0"/>
          </a:p>
          <a:p>
            <a:pPr lvl="1"/>
            <a:r>
              <a:rPr lang="zh-CN" altLang="en-US" sz="1600" dirty="0"/>
              <a:t>公英制切换</a:t>
            </a:r>
            <a:endParaRPr lang="en-US" altLang="zh-CN" sz="1600" dirty="0"/>
          </a:p>
          <a:p>
            <a:pPr lvl="1"/>
            <a:r>
              <a:rPr lang="zh-CN" altLang="en-US" sz="1600" dirty="0"/>
              <a:t>保养</a:t>
            </a:r>
            <a:endParaRPr lang="en-US" altLang="zh-CN" sz="1600" dirty="0"/>
          </a:p>
          <a:p>
            <a:pPr lvl="1"/>
            <a:r>
              <a:rPr lang="zh-CN" altLang="en-US" sz="1600" dirty="0"/>
              <a:t>恢复出厂设置</a:t>
            </a:r>
            <a:endParaRPr lang="en-US" altLang="zh-CN" sz="1600" dirty="0"/>
          </a:p>
          <a:p>
            <a:pPr lvl="1"/>
            <a:r>
              <a:rPr lang="en-US" altLang="zh-CN" sz="1600" dirty="0" err="1"/>
              <a:t>WiFi</a:t>
            </a:r>
            <a:r>
              <a:rPr lang="zh-CN" altLang="en-US" sz="1600" dirty="0"/>
              <a:t>设置</a:t>
            </a:r>
          </a:p>
          <a:p>
            <a:pPr lvl="1"/>
            <a:r>
              <a:rPr lang="en-US" altLang="zh-CN" sz="1600" dirty="0"/>
              <a:t>BT</a:t>
            </a:r>
            <a:r>
              <a:rPr lang="zh-CN" altLang="en-US" sz="1600" dirty="0"/>
              <a:t>设置</a:t>
            </a:r>
          </a:p>
          <a:p>
            <a:pPr lvl="1"/>
            <a:r>
              <a:rPr lang="zh-CN" altLang="en-US" sz="1600" dirty="0"/>
              <a:t>软件更新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44C618-1E44-845C-EED7-906778B7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45" y="1504353"/>
            <a:ext cx="7313658" cy="4280242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3E555A4-26BE-B4A1-7CCA-58A8ED4BB282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B8E81692-609A-1EC2-9F28-F1FC0CE2714A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6F523039-E7F4-8E59-3A69-0D6187792152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E707B3EB-B1DA-6F95-478C-910B3EB93BD9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33C0C8FD-043A-577F-2B08-5C1B7E9C7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23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942B-FE33-ACD0-E148-87059E61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F2C98-CB12-0B0C-ABC6-794D27B6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zh-CN" altLang="en-US" dirty="0"/>
              <a:t>手机投屏界面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A1856-7373-7661-EDD4-AE7B2281C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23"/>
            <a:ext cx="2383971" cy="454034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000" dirty="0"/>
              <a:t>手机投屏目前支持安卓（</a:t>
            </a:r>
            <a:r>
              <a:rPr lang="en-US" altLang="zh-CN" sz="2000" dirty="0"/>
              <a:t>Android</a:t>
            </a:r>
            <a:r>
              <a:rPr lang="zh-CN" altLang="en-US" sz="2000" dirty="0"/>
              <a:t>）手机和苹果手机扫描投屏方式：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安卓手机扫描连接：仪表盘与手机通过</a:t>
            </a:r>
            <a:r>
              <a:rPr lang="en-US" altLang="zh-CN" sz="2000" dirty="0"/>
              <a:t>WLAN</a:t>
            </a:r>
            <a:r>
              <a:rPr lang="zh-CN" altLang="en-US" sz="2000" dirty="0"/>
              <a:t>直连建立连接，此连接方式只需仪表、手机同时开启</a:t>
            </a:r>
            <a:r>
              <a:rPr lang="en-US" altLang="zh-CN" sz="2000" dirty="0"/>
              <a:t>Wi-Fi</a:t>
            </a:r>
            <a:r>
              <a:rPr lang="zh-CN" altLang="en-US" sz="2000" dirty="0"/>
              <a:t>即可。安卓手机通过</a:t>
            </a:r>
            <a:r>
              <a:rPr lang="en-US" altLang="zh-CN" sz="2000" dirty="0"/>
              <a:t>APP</a:t>
            </a:r>
            <a:r>
              <a:rPr lang="zh-CN" altLang="en-US" sz="2000" dirty="0"/>
              <a:t>扫描二维码进行交互。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苹果手机扫描连接：仪表盘启动</a:t>
            </a:r>
            <a:r>
              <a:rPr lang="en-US" altLang="zh-CN" sz="2000" dirty="0"/>
              <a:t>Wi-Fi</a:t>
            </a:r>
            <a:r>
              <a:rPr lang="zh-CN" altLang="en-US" sz="2000" dirty="0"/>
              <a:t>热点，苹果手机通过</a:t>
            </a:r>
            <a:r>
              <a:rPr lang="en-US" altLang="zh-CN" sz="2000" dirty="0"/>
              <a:t>APP</a:t>
            </a:r>
            <a:r>
              <a:rPr lang="zh-CN" altLang="en-US" sz="2000" dirty="0"/>
              <a:t>扫描二维码，连接仪表热点后，手机仍能正常连接网络。</a:t>
            </a:r>
            <a:endParaRPr lang="en-US" altLang="zh-CN" sz="2000" dirty="0"/>
          </a:p>
          <a:p>
            <a:endParaRPr lang="zh-CN" altLang="en-US" sz="2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8CBC732-F934-A2EA-6C64-9AE336ACF03E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A17DB3B6-02A7-ADD7-F9DA-CC56E02A11B3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EA07C363-2A45-8F58-D17E-213943A18A3A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0C6DC482-D993-495C-890B-BB5A8C213D51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1104D4E8-333F-4F18-1724-92B4B21B7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B8AFBC8-28EF-5565-1BBC-AA326B996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97" y="1259158"/>
            <a:ext cx="7750212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3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421A-C662-880D-D072-3FBC71F9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4B324-E62E-9311-31C2-BC53E444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ADAS</a:t>
            </a:r>
            <a:r>
              <a:rPr lang="zh-CN" altLang="en-US" dirty="0"/>
              <a:t>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76495-26FD-D923-D4A1-DAEA3EDDA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359754"/>
            <a:ext cx="2725782" cy="433565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000" dirty="0"/>
              <a:t>ADAS</a:t>
            </a:r>
            <a:r>
              <a:rPr lang="zh-CN" altLang="en-US" sz="2000" dirty="0"/>
              <a:t>界面包含设置首界面和启动后界面。</a:t>
            </a:r>
            <a:r>
              <a:rPr lang="en-US" altLang="zh-CN" sz="2000" dirty="0"/>
              <a:t>ADAS</a:t>
            </a:r>
            <a:r>
              <a:rPr lang="zh-CN" altLang="en-US" sz="2000" dirty="0"/>
              <a:t>的启动界面如右所示。</a:t>
            </a:r>
            <a:r>
              <a:rPr lang="en-US" altLang="zh-CN" sz="2000" dirty="0"/>
              <a:t>ADAS</a:t>
            </a:r>
            <a:r>
              <a:rPr lang="zh-CN" altLang="en-US" sz="2000" dirty="0"/>
              <a:t>的设置包含如下内容：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/>
              <a:t>前向碰撞预警（</a:t>
            </a:r>
            <a:r>
              <a:rPr lang="en-US" altLang="zh-CN" sz="1800" dirty="0"/>
              <a:t>FCW</a:t>
            </a:r>
            <a:r>
              <a:rPr lang="zh-CN" altLang="en-US" sz="1800" dirty="0"/>
              <a:t>）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/>
              <a:t>盲区监测       （</a:t>
            </a:r>
            <a:r>
              <a:rPr lang="en-US" altLang="zh-CN" sz="1800" dirty="0"/>
              <a:t>BSD</a:t>
            </a:r>
            <a:r>
              <a:rPr lang="zh-CN" altLang="en-US" sz="1800" dirty="0"/>
              <a:t>）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/>
              <a:t>车道偏离预警（</a:t>
            </a:r>
            <a:r>
              <a:rPr lang="en-US" altLang="zh-CN" sz="1800" dirty="0"/>
              <a:t>LDW</a:t>
            </a:r>
            <a:r>
              <a:rPr lang="zh-CN" altLang="en-US" sz="1800" dirty="0"/>
              <a:t>）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800" dirty="0"/>
              <a:t>行人检测预警（</a:t>
            </a:r>
            <a:r>
              <a:rPr lang="en-US" altLang="zh-CN" sz="1800" dirty="0"/>
              <a:t>PCW</a:t>
            </a:r>
            <a:r>
              <a:rPr lang="zh-CN" altLang="en-US" sz="1600" dirty="0"/>
              <a:t>）</a:t>
            </a:r>
          </a:p>
          <a:p>
            <a:endParaRPr lang="zh-CN" altLang="en-US" sz="2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92A492-BA35-C318-17F1-4E8FB213BCA0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36AE323D-336C-1AE4-0C96-BF7FB68A2817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82AA3378-5D0E-A44E-95B8-39C86E213DE1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2B21B6CB-2727-12E5-1A0C-3668AE2EA084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D6C3D053-9F93-4355-FA35-8F4F7C084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68D8F8DC-B03B-755B-B168-BAB52093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936" y="1252812"/>
            <a:ext cx="7780694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6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A7DC-D3A4-F584-9A83-B2DEB9B9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CD376-7043-D6C2-A6DD-FDFF218D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zh-CN" altLang="en-US" dirty="0"/>
              <a:t>行车记录仪界面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64CF8-EC6E-ACB1-B3C1-0208E0A0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359754"/>
            <a:ext cx="2464524" cy="433565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000" dirty="0"/>
              <a:t>行车记录仪支持启动和录制两种操作，启动只是视频流在屏幕上显示，录制是后台视频流存储，两种操作可以同时进行。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/>
              <a:t>行车记录仪启动支持前后摄像头的分别显示，或者两者同时显示。其启动界面示意图如右所示。</a:t>
            </a:r>
            <a:endParaRPr lang="en-US" altLang="zh-CN" sz="20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/>
              <a:t>行车记录仪的录制也支持前后摄像头的分别录制或同时录制。录制文件格式支持</a:t>
            </a:r>
            <a:r>
              <a:rPr lang="en-US" altLang="zh-CN" sz="2000" dirty="0"/>
              <a:t>MP4</a:t>
            </a:r>
            <a:r>
              <a:rPr lang="zh-CN" altLang="en-US" sz="2000" dirty="0"/>
              <a:t>和</a:t>
            </a:r>
            <a:r>
              <a:rPr lang="en-US" altLang="zh-CN" sz="2000" dirty="0"/>
              <a:t>AVI</a:t>
            </a:r>
            <a:r>
              <a:rPr lang="zh-CN" altLang="en-US" sz="2000" dirty="0"/>
              <a:t>两种，录制模式支持：连续保存，哨兵模式，倾倒保存。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CE8799-2285-A46F-5FD7-6142FA2FEB63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136B67C9-26F9-7D45-9EA2-9305CEC8EC7C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9F7BF343-C065-F5F7-4589-13630B3A312B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2F7C7271-0BB7-6A8B-6022-119E1E35AF4B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D8B406C3-A37D-34B0-DDD2-5DB74529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CD21035B-103A-6ED4-7F13-692AA67B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726" y="1223693"/>
            <a:ext cx="7773074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2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9099-82BE-38C6-DF8E-8DBA3488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6B408-EAA6-B5F3-E1F1-3B52C847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366"/>
          </a:xfrm>
        </p:spPr>
        <p:txBody>
          <a:bodyPr/>
          <a:lstStyle/>
          <a:p>
            <a:r>
              <a:rPr lang="en-US" altLang="zh-CN" dirty="0"/>
              <a:t>C-JS binding</a:t>
            </a:r>
            <a:r>
              <a:rPr lang="zh-CN" altLang="en-US" dirty="0"/>
              <a:t>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2262C-D51F-9D59-06BB-9BFA9762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496" y="1210491"/>
            <a:ext cx="7768047" cy="481583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sz="7200" dirty="0"/>
              <a:t>C-JS binding</a:t>
            </a:r>
            <a:r>
              <a:rPr lang="zh-CN" altLang="en-US" sz="7200" dirty="0"/>
              <a:t>层完成</a:t>
            </a:r>
            <a:r>
              <a:rPr lang="en-US" altLang="zh-CN" sz="7200" dirty="0"/>
              <a:t>JS API</a:t>
            </a:r>
            <a:r>
              <a:rPr lang="zh-CN" altLang="en-US" sz="7200" dirty="0"/>
              <a:t>到</a:t>
            </a:r>
            <a:r>
              <a:rPr lang="en-US" altLang="zh-CN" sz="7200" dirty="0"/>
              <a:t>C API</a:t>
            </a:r>
            <a:r>
              <a:rPr lang="zh-CN" altLang="en-US" sz="7200" dirty="0"/>
              <a:t>的</a:t>
            </a:r>
            <a:r>
              <a:rPr lang="en-US" altLang="zh-CN" sz="7200" dirty="0"/>
              <a:t>binding</a:t>
            </a:r>
            <a:r>
              <a:rPr lang="zh-CN" altLang="en-US" sz="7200" dirty="0"/>
              <a:t>。目前支持如下模块</a:t>
            </a:r>
            <a:r>
              <a:rPr lang="en-US" altLang="zh-CN" sz="7200" dirty="0"/>
              <a:t>API</a:t>
            </a:r>
            <a:r>
              <a:rPr lang="zh-CN" altLang="en-US" sz="7200" dirty="0"/>
              <a:t>的</a:t>
            </a:r>
            <a:r>
              <a:rPr lang="en-US" altLang="zh-CN" sz="7200" dirty="0"/>
              <a:t>binding:</a:t>
            </a:r>
          </a:p>
          <a:p>
            <a:pPr>
              <a:lnSpc>
                <a:spcPct val="140000"/>
              </a:lnSpc>
            </a:pPr>
            <a:r>
              <a:rPr lang="en-US" altLang="zh-CN" sz="5500" b="1" dirty="0"/>
              <a:t>DCM (Data Cache Management): </a:t>
            </a:r>
            <a:r>
              <a:rPr lang="zh-CN" altLang="en-US" sz="5500" dirty="0"/>
              <a:t>数据管理组件，适用于</a:t>
            </a:r>
            <a:r>
              <a:rPr lang="en-US" altLang="zh-CN" sz="5500" dirty="0"/>
              <a:t>JS</a:t>
            </a:r>
            <a:r>
              <a:rPr lang="zh-CN" altLang="en-US" sz="5500" dirty="0"/>
              <a:t>与</a:t>
            </a:r>
            <a:r>
              <a:rPr lang="en-US" altLang="zh-CN" sz="5500" dirty="0"/>
              <a:t>JS</a:t>
            </a:r>
            <a:r>
              <a:rPr lang="zh-CN" altLang="en-US" sz="5500" dirty="0"/>
              <a:t>模块之间的数据传输和交互。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/>
              <a:t>EMQ(Enhance Message Queue ):</a:t>
            </a:r>
            <a:r>
              <a:rPr lang="zh-CN" altLang="en-US" sz="5500" b="1" dirty="0"/>
              <a:t> </a:t>
            </a:r>
            <a:r>
              <a:rPr lang="zh-CN" altLang="en-US" sz="5500" dirty="0"/>
              <a:t>一种发布订阅式的消息队列组件，适用于</a:t>
            </a:r>
            <a:r>
              <a:rPr lang="en-US" altLang="zh-CN" sz="5500" dirty="0"/>
              <a:t>JS</a:t>
            </a:r>
            <a:r>
              <a:rPr lang="zh-CN" altLang="en-US" sz="5500" dirty="0"/>
              <a:t>与</a:t>
            </a:r>
            <a:r>
              <a:rPr lang="en-US" altLang="zh-CN" sz="5500" dirty="0"/>
              <a:t>JS</a:t>
            </a:r>
            <a:r>
              <a:rPr lang="zh-CN" altLang="en-US" sz="5500" dirty="0"/>
              <a:t>模块之间的消息交互。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 err="1"/>
              <a:t>systemStorage</a:t>
            </a:r>
            <a:r>
              <a:rPr lang="en-US" altLang="zh-CN" sz="5500" b="1" dirty="0"/>
              <a:t>:</a:t>
            </a:r>
            <a:r>
              <a:rPr lang="zh-CN" altLang="en-US" sz="5500" b="1" dirty="0"/>
              <a:t> </a:t>
            </a:r>
            <a:r>
              <a:rPr lang="zh-CN" altLang="en-US" sz="5500" dirty="0"/>
              <a:t>用于存储应用中各种类型的数据，应用层可通过接口函数，读取、修改、监听、删除存储在外部存储介质上的数据，实现数据持久化保存。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 err="1"/>
              <a:t>ubus</a:t>
            </a:r>
            <a:r>
              <a:rPr lang="en-US" altLang="zh-CN" sz="5500" b="1" dirty="0"/>
              <a:t>: </a:t>
            </a:r>
            <a:r>
              <a:rPr lang="zh-CN" altLang="en-US" sz="5500" dirty="0"/>
              <a:t>是</a:t>
            </a:r>
            <a:r>
              <a:rPr lang="en-US" altLang="zh-CN" sz="5500" dirty="0" err="1"/>
              <a:t>OpenWrt</a:t>
            </a:r>
            <a:r>
              <a:rPr lang="zh-CN" altLang="en-US" sz="5500" dirty="0"/>
              <a:t>中轻量级的进程间通信（</a:t>
            </a:r>
            <a:r>
              <a:rPr lang="en-US" altLang="zh-CN" sz="5500" dirty="0"/>
              <a:t>IPC</a:t>
            </a:r>
            <a:r>
              <a:rPr lang="zh-CN" altLang="en-US" sz="5500" dirty="0"/>
              <a:t>）框架，基于</a:t>
            </a:r>
            <a:r>
              <a:rPr lang="en-US" altLang="zh-CN" sz="5500" dirty="0"/>
              <a:t>Unix</a:t>
            </a:r>
            <a:r>
              <a:rPr lang="zh-CN" altLang="en-US" sz="5500" dirty="0"/>
              <a:t>域套接字和</a:t>
            </a:r>
            <a:r>
              <a:rPr lang="en-US" altLang="zh-CN" sz="5500" dirty="0"/>
              <a:t>JSON-RPC</a:t>
            </a:r>
            <a:r>
              <a:rPr lang="zh-CN" altLang="en-US" sz="5500" dirty="0"/>
              <a:t>协议。</a:t>
            </a:r>
            <a:r>
              <a:rPr lang="en-US" altLang="zh-CN" sz="5500" dirty="0"/>
              <a:t>Ubus binding</a:t>
            </a:r>
            <a:r>
              <a:rPr lang="zh-CN" altLang="en-US" sz="5500" dirty="0"/>
              <a:t>是</a:t>
            </a:r>
            <a:r>
              <a:rPr lang="en-US" altLang="zh-CN" sz="5500" dirty="0"/>
              <a:t>JS APP</a:t>
            </a:r>
            <a:r>
              <a:rPr lang="zh-CN" altLang="en-US" sz="5500" dirty="0"/>
              <a:t>与</a:t>
            </a:r>
            <a:r>
              <a:rPr lang="en-US" altLang="zh-CN" sz="5500" dirty="0"/>
              <a:t>Native services</a:t>
            </a:r>
            <a:r>
              <a:rPr lang="zh-CN" altLang="en-US" sz="5500" dirty="0"/>
              <a:t>模块之间的主要通信机制。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 err="1"/>
              <a:t>tbox</a:t>
            </a:r>
            <a:r>
              <a:rPr lang="en-US" altLang="zh-CN" sz="5500" b="1" dirty="0"/>
              <a:t>: </a:t>
            </a:r>
            <a:r>
              <a:rPr lang="zh-CN" altLang="en-US" sz="5500" dirty="0"/>
              <a:t>主要提供</a:t>
            </a:r>
            <a:r>
              <a:rPr lang="en-US" altLang="zh-CN" sz="5500" dirty="0"/>
              <a:t>JS</a:t>
            </a:r>
            <a:r>
              <a:rPr lang="zh-CN" altLang="en-US" sz="5500" dirty="0"/>
              <a:t>应用层所需的信息，包括车速、油耗、车灯、功能按键等。</a:t>
            </a:r>
            <a:r>
              <a:rPr lang="en-US" altLang="zh-CN" sz="5500" dirty="0" err="1"/>
              <a:t>Tbox</a:t>
            </a:r>
            <a:r>
              <a:rPr lang="en-US" altLang="zh-CN" sz="5500" dirty="0"/>
              <a:t> binding</a:t>
            </a:r>
            <a:r>
              <a:rPr lang="zh-CN" altLang="en-US" sz="5500" dirty="0"/>
              <a:t>是</a:t>
            </a:r>
            <a:r>
              <a:rPr lang="en-US" altLang="zh-CN" sz="5500" dirty="0"/>
              <a:t>JS</a:t>
            </a:r>
            <a:r>
              <a:rPr lang="zh-CN" altLang="en-US" sz="5500" dirty="0"/>
              <a:t>应用与</a:t>
            </a:r>
            <a:r>
              <a:rPr lang="en-US" altLang="zh-CN" sz="5500" dirty="0" err="1"/>
              <a:t>tbox</a:t>
            </a:r>
            <a:r>
              <a:rPr lang="en-US" altLang="zh-CN" sz="5500" dirty="0"/>
              <a:t> native service</a:t>
            </a:r>
            <a:r>
              <a:rPr lang="zh-CN" altLang="en-US" sz="5500" dirty="0"/>
              <a:t>模块之间的一种通信机制。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 err="1"/>
              <a:t>tsdb</a:t>
            </a:r>
            <a:r>
              <a:rPr lang="en-US" altLang="zh-CN" sz="5500" b="1" dirty="0"/>
              <a:t>: </a:t>
            </a:r>
            <a:r>
              <a:rPr lang="zh-CN" altLang="en-US" sz="5500" dirty="0"/>
              <a:t>时间序列数据库</a:t>
            </a:r>
            <a:r>
              <a:rPr lang="en-US" altLang="zh-CN" sz="5500" dirty="0"/>
              <a:t>,</a:t>
            </a:r>
            <a:r>
              <a:rPr lang="zh-CN" altLang="en-US" sz="5500" dirty="0"/>
              <a:t> 它将数据按照时间顺序存储 。</a:t>
            </a:r>
            <a:r>
              <a:rPr lang="en-US" altLang="zh-CN" sz="5500" dirty="0" err="1"/>
              <a:t>tsdb</a:t>
            </a:r>
            <a:r>
              <a:rPr lang="en-US" altLang="zh-CN" sz="5500" dirty="0"/>
              <a:t> </a:t>
            </a:r>
            <a:r>
              <a:rPr lang="zh-CN" altLang="en-US" sz="5500" dirty="0"/>
              <a:t>数据具有时间戳，数据存储量大，插入及查询性能高。</a:t>
            </a:r>
            <a:endParaRPr lang="en-US" altLang="zh-CN" sz="5500" dirty="0"/>
          </a:p>
          <a:p>
            <a:pPr>
              <a:lnSpc>
                <a:spcPct val="140000"/>
              </a:lnSpc>
            </a:pPr>
            <a:r>
              <a:rPr lang="en-US" altLang="zh-CN" sz="5500" b="1" dirty="0"/>
              <a:t>Network Access: </a:t>
            </a:r>
            <a:r>
              <a:rPr lang="zh-CN" altLang="en-US" sz="5500" dirty="0"/>
              <a:t>支持数据请求</a:t>
            </a:r>
            <a:r>
              <a:rPr lang="en-US" altLang="zh-CN" sz="5500" dirty="0"/>
              <a:t>fetch</a:t>
            </a:r>
            <a:r>
              <a:rPr lang="zh-CN" altLang="en-US" sz="5500" dirty="0"/>
              <a:t>模块，上传下载</a:t>
            </a:r>
            <a:r>
              <a:rPr lang="en-US" altLang="zh-CN" sz="5500" dirty="0"/>
              <a:t>request</a:t>
            </a:r>
            <a:r>
              <a:rPr lang="zh-CN" altLang="en-US" sz="5500" dirty="0"/>
              <a:t>模块以及</a:t>
            </a:r>
            <a:r>
              <a:rPr lang="en-US" altLang="zh-CN" sz="5500" dirty="0" err="1"/>
              <a:t>Websocket</a:t>
            </a:r>
            <a:r>
              <a:rPr lang="zh-CN" altLang="en-US" sz="5500" dirty="0"/>
              <a:t>模块。</a:t>
            </a:r>
            <a:endParaRPr lang="en-US" altLang="zh-CN" sz="55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EC43B-2FAB-6B5C-5935-643289912177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BED99103-9427-B4DC-624C-C42FF211C88C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9B804E1E-2A27-8468-2313-AE70B907741D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4706D846-B33D-87DA-F3CE-1E39C1D1ED49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9C5BD8CE-2852-6291-11F0-6A3AEDB02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240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893DB-FC8D-B79B-7A28-BA8068C3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D4949-3BC8-52F3-CEB4-83AFB57D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Native Services 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C8085F-FA0C-EDA9-5485-DFDCBF4B0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59754"/>
            <a:ext cx="4650376" cy="433565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/>
              <a:t>Persim</a:t>
            </a:r>
            <a:r>
              <a:rPr lang="zh-CN" altLang="en-US" sz="2000" b="1" dirty="0"/>
              <a:t>：</a:t>
            </a:r>
            <a:r>
              <a:rPr lang="zh-CN" altLang="en-US" sz="1800" dirty="0"/>
              <a:t>是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 APP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层以及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C-JS binding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层的宿主核心，是一个独立的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进程。整个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 APP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层以及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C-JS binding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层实际上都运行在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Persim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进程中。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基本功能模块如下：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1600" dirty="0" err="1"/>
              <a:t>JerryScript</a:t>
            </a:r>
            <a:r>
              <a:rPr lang="en-US" altLang="zh-CN" sz="1600" dirty="0"/>
              <a:t> Engine: </a:t>
            </a:r>
            <a:r>
              <a:rPr lang="zh-CN" altLang="en-US" sz="1600" dirty="0"/>
              <a:t>基于开源</a:t>
            </a:r>
            <a:r>
              <a:rPr lang="en-US" altLang="zh-CN" sz="1600" dirty="0" err="1"/>
              <a:t>Jerryscript</a:t>
            </a:r>
            <a:r>
              <a:rPr lang="zh-CN" altLang="en-US" sz="1600" dirty="0"/>
              <a:t>库进行性能优化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1600" dirty="0"/>
              <a:t>GUI</a:t>
            </a:r>
            <a:r>
              <a:rPr lang="zh-CN" altLang="en-US" sz="1600" dirty="0"/>
              <a:t>界面管理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600" dirty="0"/>
              <a:t>动画管理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600" dirty="0"/>
              <a:t>国际化：支持中文和英文两种语言资源</a:t>
            </a: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1600" dirty="0"/>
              <a:t>资源管理：支持多种</a:t>
            </a:r>
            <a:r>
              <a:rPr lang="en-US" altLang="zh-CN" sz="1600" dirty="0"/>
              <a:t>widgets</a:t>
            </a:r>
            <a:r>
              <a:rPr lang="zh-CN" altLang="en-US" sz="1600" dirty="0"/>
              <a:t>和多分辨率</a:t>
            </a:r>
            <a:endParaRPr lang="en-US" altLang="zh-CN" sz="1600" dirty="0"/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1600" dirty="0"/>
              <a:t>GUI engine</a:t>
            </a:r>
            <a:r>
              <a:rPr lang="zh-CN" altLang="en-US" sz="1600" dirty="0"/>
              <a:t>：支持</a:t>
            </a:r>
            <a:r>
              <a:rPr lang="en-US" altLang="zh-CN" sz="1600" dirty="0"/>
              <a:t>2D</a:t>
            </a:r>
            <a:r>
              <a:rPr lang="zh-CN" altLang="en-US" sz="1600" dirty="0"/>
              <a:t>以及</a:t>
            </a:r>
            <a:r>
              <a:rPr lang="en-US" altLang="zh-CN" sz="1600" dirty="0"/>
              <a:t>3D</a:t>
            </a:r>
            <a:r>
              <a:rPr lang="zh-CN" altLang="en-US" sz="1600" dirty="0"/>
              <a:t>图形加速</a:t>
            </a:r>
            <a:endParaRPr lang="en-US" altLang="zh-CN" sz="16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endParaRPr lang="zh-CN" altLang="en-US" sz="2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BD8CD1C-BD93-16C0-E7A5-01E887A314D8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AD21094A-F6A9-9588-4A01-60B9805FF6AC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F72A4F59-E710-2ADE-8492-AE2A371D470E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9A22758F-E6B6-70E0-32FA-D318402186B8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0763CB66-FFD0-BB47-C63C-B19D4E97C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BEE893D-B24F-246E-A517-602A85FE9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475" y="1925216"/>
            <a:ext cx="2570027" cy="2717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19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D7F1B-33BB-8D69-C1B1-B2313CB3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EEC85-10F8-7046-FB37-DC70F9F8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Native Services 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DBBFA-50BA-2FE0-A2B7-0C202F3CA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75" y="1359754"/>
            <a:ext cx="8874034" cy="433565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motocycle-adas-dvr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该模块是提供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adas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dvr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功能的服务模块，是一个独立的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进程。由于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adas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dvr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都要使用前后摄像头，使用一个融合模块来实现更加具有效率。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它与应用层之间交互是通过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C-JS binding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ubus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来进行的。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motocycle-tbox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该模块是提供</a:t>
            </a:r>
            <a:r>
              <a:rPr lang="en-US" altLang="zh-CN" sz="1800" dirty="0" err="1"/>
              <a:t>tbox</a:t>
            </a:r>
            <a:r>
              <a:rPr lang="zh-CN" altLang="en-US" sz="1800" dirty="0"/>
              <a:t>信息的服务模块，是一个独立的</a:t>
            </a:r>
            <a:r>
              <a:rPr lang="en-US" altLang="zh-CN" sz="1800" dirty="0"/>
              <a:t>Linux</a:t>
            </a:r>
            <a:r>
              <a:rPr lang="zh-CN" altLang="en-US" sz="1800" dirty="0"/>
              <a:t>进程。它通过</a:t>
            </a:r>
            <a:r>
              <a:rPr lang="en-US" altLang="zh-CN" sz="1800" dirty="0" err="1"/>
              <a:t>Uart</a:t>
            </a:r>
            <a:r>
              <a:rPr lang="zh-CN" altLang="en-US" sz="1800" dirty="0"/>
              <a:t>与车身控制器进行交互，然后将</a:t>
            </a:r>
            <a:r>
              <a:rPr lang="en-US" altLang="zh-CN" sz="1800" dirty="0" err="1"/>
              <a:t>tbox</a:t>
            </a:r>
            <a:r>
              <a:rPr lang="zh-CN" altLang="en-US" sz="1800" dirty="0"/>
              <a:t>信息上报给其他服务模块或者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应用层。它与其他服务模块的交互基于</a:t>
            </a:r>
            <a:r>
              <a:rPr lang="en-US" altLang="zh-CN" sz="1800" dirty="0"/>
              <a:t>Shared Memory</a:t>
            </a:r>
            <a:r>
              <a:rPr lang="zh-CN" altLang="en-US" sz="1800" dirty="0"/>
              <a:t>和</a:t>
            </a:r>
            <a:r>
              <a:rPr lang="en-US" altLang="zh-CN" sz="1800" dirty="0"/>
              <a:t>Linux</a:t>
            </a:r>
            <a:r>
              <a:rPr lang="zh-CN" altLang="en-US" sz="1800" dirty="0"/>
              <a:t>消息队列。它与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应用层之间的交互既可以通过</a:t>
            </a:r>
            <a:r>
              <a:rPr lang="en-US" altLang="zh-CN" sz="1800" dirty="0"/>
              <a:t>C-JS binding</a:t>
            </a:r>
            <a:r>
              <a:rPr lang="zh-CN" altLang="en-US" sz="1800" dirty="0"/>
              <a:t>层的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来进行，也可以通过</a:t>
            </a:r>
            <a:r>
              <a:rPr lang="en-US" altLang="zh-CN" sz="1800" dirty="0"/>
              <a:t>C-JS binding</a:t>
            </a:r>
            <a:r>
              <a:rPr lang="zh-CN" altLang="en-US" sz="1800" dirty="0"/>
              <a:t>层的</a:t>
            </a:r>
            <a:r>
              <a:rPr lang="en-US" altLang="zh-CN" sz="1800" dirty="0" err="1"/>
              <a:t>tbox</a:t>
            </a:r>
            <a:r>
              <a:rPr lang="zh-CN" altLang="en-US" sz="1800" dirty="0"/>
              <a:t>来进行，后者效率更高。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</a:t>
            </a:r>
            <a:r>
              <a:rPr lang="en-US" altLang="zh-CN" sz="2000" b="1" dirty="0"/>
              <a:t>-audio-</a:t>
            </a:r>
            <a:r>
              <a:rPr lang="en-US" altLang="zh-CN" sz="2000" b="1" dirty="0" err="1"/>
              <a:t>recog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该模块对语音进行识别，转换为相应的</a:t>
            </a:r>
            <a:r>
              <a:rPr lang="en-US" altLang="zh-CN" sz="1800" dirty="0"/>
              <a:t>control command</a:t>
            </a:r>
            <a:r>
              <a:rPr lang="zh-CN" altLang="en-US" sz="1800" dirty="0"/>
              <a:t>，然后与其他服务模块或者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应用层进行交互。它与其他模块的交互可以基于</a:t>
            </a:r>
            <a:r>
              <a:rPr lang="en-US" altLang="zh-CN" sz="1800" dirty="0"/>
              <a:t>Linux</a:t>
            </a:r>
            <a:r>
              <a:rPr lang="zh-CN" altLang="en-US" sz="1800" dirty="0"/>
              <a:t>消息队列，或者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来进行，与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7617E02-4A2F-82A8-0FC5-692176A257F6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FC615C7-6365-C49F-0E14-F6117181AF39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CB25D1C7-9E84-D775-D4DC-9B130AA3FD90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DF02EB70-5B2B-8C9C-D854-326CC0673849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3844C907-D8EC-3D1F-3CE5-AFC0AD467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1184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64E7-9C33-A3FF-C827-1B41D79B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B7865-C17A-7F91-C4A5-1EA7399A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Native Services (3)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B066F3-241B-E843-9A71-5B47918F2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74" y="1359754"/>
            <a:ext cx="10188157" cy="433565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WiFi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该模块提供</a:t>
            </a:r>
            <a:r>
              <a:rPr lang="en-US" altLang="zh-CN" sz="1800" dirty="0" err="1"/>
              <a:t>WiFi</a:t>
            </a:r>
            <a:r>
              <a:rPr lang="en-US" altLang="zh-CN" sz="1800" dirty="0"/>
              <a:t> station</a:t>
            </a:r>
            <a:r>
              <a:rPr lang="zh-CN" altLang="en-US" sz="1800" dirty="0"/>
              <a:t>（包括</a:t>
            </a:r>
            <a:r>
              <a:rPr lang="en-US" altLang="zh-CN" sz="1800" dirty="0"/>
              <a:t>P2P</a:t>
            </a:r>
            <a:r>
              <a:rPr lang="zh-CN" altLang="en-US" sz="1800" dirty="0"/>
              <a:t>）连接的建立和释放管理，以及</a:t>
            </a:r>
            <a:r>
              <a:rPr lang="en-US" altLang="zh-CN" sz="1800" dirty="0" err="1"/>
              <a:t>WiFi</a:t>
            </a:r>
            <a:r>
              <a:rPr lang="en-US" altLang="zh-CN" sz="1800" dirty="0"/>
              <a:t> </a:t>
            </a:r>
            <a:r>
              <a:rPr lang="zh-CN" altLang="en-US" sz="1800" dirty="0"/>
              <a:t>热点的创建和删除管理。它与其他模块以及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</a:t>
            </a:r>
            <a:r>
              <a:rPr lang="en-US" altLang="zh-CN" sz="2000" b="1" dirty="0"/>
              <a:t>-info</a:t>
            </a:r>
            <a:r>
              <a:rPr lang="zh-CN" altLang="en-US" sz="2000" b="1" dirty="0"/>
              <a:t>：</a:t>
            </a:r>
            <a:r>
              <a:rPr lang="zh-CN" altLang="en-US" sz="1800" dirty="0"/>
              <a:t>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的摩托车系统信息管理服务模块，提供</a:t>
            </a:r>
            <a:r>
              <a:rPr lang="en-US" altLang="zh-CN" sz="1800" dirty="0" err="1"/>
              <a:t>WiFi</a:t>
            </a:r>
            <a:r>
              <a:rPr lang="zh-CN" altLang="en-US" sz="1800" dirty="0"/>
              <a:t>信息查询、蓝牙设备管理、系统时间设置和恢复出厂设置功能。它包含全面的蓝牙（</a:t>
            </a:r>
            <a:r>
              <a:rPr lang="en-US" altLang="zh-CN" sz="1800" dirty="0"/>
              <a:t>BT</a:t>
            </a:r>
            <a:r>
              <a:rPr lang="zh-CN" altLang="en-US" sz="1800" dirty="0"/>
              <a:t>）设备管理功能，包括获取蓝牙适配器和已连接设备信息，扫描附近的蓝牙设备，获取已配对设备列表，设置特定设备焦点，断开蓝牙连接，清除已配对设备列表等</a:t>
            </a:r>
            <a:r>
              <a:rPr lang="zh-CN" altLang="zh-CN" sz="1800" dirty="0"/>
              <a:t>。它与其他模块以及</a:t>
            </a:r>
            <a:r>
              <a:rPr lang="en-US" altLang="zh-CN" sz="1800" dirty="0"/>
              <a:t>JS</a:t>
            </a:r>
            <a:r>
              <a:rPr lang="zh-CN" altLang="zh-CN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zh-CN" sz="1800" dirty="0"/>
              <a:t>来进行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/>
              <a:t>multimedia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该模块提供</a:t>
            </a:r>
            <a:r>
              <a:rPr lang="en-US" altLang="zh-CN" sz="1800" dirty="0"/>
              <a:t>audio</a:t>
            </a:r>
            <a:r>
              <a:rPr lang="zh-CN" altLang="en-US" sz="1800" dirty="0"/>
              <a:t>和</a:t>
            </a:r>
            <a:r>
              <a:rPr lang="en-US" altLang="zh-CN" sz="1800" dirty="0"/>
              <a:t>video</a:t>
            </a:r>
            <a:r>
              <a:rPr lang="zh-CN" altLang="en-US" sz="1800" dirty="0"/>
              <a:t>的播放管理，它与其他模块以及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motocycle-ota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该模块提供软件</a:t>
            </a:r>
            <a:r>
              <a:rPr lang="en-US" altLang="zh-CN" sz="1800" dirty="0" err="1"/>
              <a:t>ota</a:t>
            </a:r>
            <a:r>
              <a:rPr lang="zh-CN" altLang="en-US" sz="1800" dirty="0"/>
              <a:t>更新功能，包括</a:t>
            </a:r>
            <a:r>
              <a:rPr lang="en-US" altLang="zh-CN" sz="1800" dirty="0" err="1"/>
              <a:t>ota</a:t>
            </a:r>
            <a:r>
              <a:rPr lang="en-US" altLang="zh-CN" sz="1800" dirty="0"/>
              <a:t> image</a:t>
            </a:r>
            <a:r>
              <a:rPr lang="zh-CN" altLang="en-US" sz="1800" dirty="0"/>
              <a:t>的下载和更新两个过程。目前</a:t>
            </a:r>
            <a:r>
              <a:rPr lang="en-US" altLang="zh-CN" sz="1800" dirty="0" err="1"/>
              <a:t>ota</a:t>
            </a:r>
            <a:r>
              <a:rPr lang="zh-CN" altLang="en-US" sz="1800" dirty="0"/>
              <a:t>支持如下分区的</a:t>
            </a:r>
            <a:r>
              <a:rPr lang="en-US" altLang="zh-CN" sz="1800" dirty="0"/>
              <a:t>A/B</a:t>
            </a:r>
            <a:r>
              <a:rPr lang="zh-CN" altLang="en-US" sz="1800" dirty="0"/>
              <a:t>更新：</a:t>
            </a:r>
            <a:r>
              <a:rPr lang="en-US" altLang="zh-CN" sz="1800" dirty="0" err="1"/>
              <a:t>uboot</a:t>
            </a:r>
            <a:r>
              <a:rPr lang="en-US" altLang="zh-CN" sz="1800" dirty="0"/>
              <a:t>, boot</a:t>
            </a:r>
            <a:r>
              <a:rPr lang="zh-CN" altLang="en-US" sz="1800" dirty="0"/>
              <a:t>和</a:t>
            </a:r>
            <a:r>
              <a:rPr lang="en-US" altLang="zh-CN" sz="1800" dirty="0" err="1"/>
              <a:t>rootfs</a:t>
            </a:r>
            <a:r>
              <a:rPr lang="zh-CN" altLang="en-US" sz="1800" dirty="0"/>
              <a:t>。它与其他模块以及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13E8A5-8EB6-2D06-72FD-8468B61CA82A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8AF00D0-F951-B320-7E19-1DB7C13F3CCF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2816884A-7FCD-2532-AC4A-8951E4C0C57F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A4A30001-45D5-0FE6-AB1D-CF61F3B44409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F24539E4-3ED6-45AC-D8B9-526861CF7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2810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C658-1322-85F6-7392-51433463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B801B-AFE6-AADC-8749-028C3AE1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altLang="zh-CN" dirty="0"/>
              <a:t>Native Services (4)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9F327-0E6C-B73B-378C-72A1C3075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74" y="1359754"/>
            <a:ext cx="9570719" cy="47101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</a:t>
            </a:r>
            <a:r>
              <a:rPr lang="en-US" altLang="zh-CN" sz="2000" b="1" dirty="0"/>
              <a:t>-sensor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该模块提供</a:t>
            </a:r>
            <a:r>
              <a:rPr lang="en-US" altLang="zh-CN" sz="1800" dirty="0"/>
              <a:t>sensor</a:t>
            </a:r>
            <a:r>
              <a:rPr lang="zh-CN" altLang="en-US" sz="1800" dirty="0"/>
              <a:t>数据（</a:t>
            </a:r>
            <a:r>
              <a:rPr lang="en-US" altLang="zh-CN" sz="1800" dirty="0" err="1"/>
              <a:t>gsensor</a:t>
            </a:r>
            <a:r>
              <a:rPr lang="en-US" altLang="zh-CN" sz="1800" dirty="0"/>
              <a:t>, gyroscope sensor, magnet sensor</a:t>
            </a:r>
            <a:r>
              <a:rPr lang="zh-CN" altLang="en-US" sz="1800" dirty="0"/>
              <a:t>）以及</a:t>
            </a:r>
            <a:r>
              <a:rPr lang="en-US" altLang="zh-CN" sz="1800" dirty="0"/>
              <a:t>sensor</a:t>
            </a:r>
            <a:r>
              <a:rPr lang="zh-CN" altLang="en-US" sz="1800" dirty="0"/>
              <a:t>数据的处理。目前</a:t>
            </a:r>
            <a:r>
              <a:rPr lang="en-US" altLang="zh-CN" sz="1800" dirty="0"/>
              <a:t>sensor</a:t>
            </a:r>
            <a:r>
              <a:rPr lang="zh-CN" altLang="en-US" sz="1800" dirty="0"/>
              <a:t>数据主要是用来分析摩托车倾倒判断以及碰撞检测等。它与其他模块以及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应用层的交互主要基于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 err="1"/>
              <a:t>motocycle-psmirror</a:t>
            </a:r>
            <a:r>
              <a:rPr lang="zh-CN" altLang="en-US" sz="2000" b="1" dirty="0"/>
              <a:t>：</a:t>
            </a:r>
            <a:r>
              <a:rPr lang="zh-CN" altLang="en-US" sz="1800" dirty="0"/>
              <a:t>该模块主要用来提供手机投屏功能。安卓手机投屏是通过与仪表盘建立</a:t>
            </a:r>
            <a:r>
              <a:rPr lang="en-US" altLang="zh-CN" sz="1800" dirty="0"/>
              <a:t>Wi-Fi</a:t>
            </a:r>
            <a:r>
              <a:rPr lang="zh-CN" altLang="en-US" sz="1800" dirty="0"/>
              <a:t>直连来实现的；而苹果手机投屏是通过连接仪表盘热点的方式来实现的。目前仪表盘</a:t>
            </a:r>
            <a:r>
              <a:rPr lang="en-US" altLang="zh-CN" sz="1800" dirty="0" err="1"/>
              <a:t>WiFi</a:t>
            </a:r>
            <a:r>
              <a:rPr lang="zh-CN" altLang="en-US" sz="1800" dirty="0"/>
              <a:t>模块支持同时开启</a:t>
            </a:r>
            <a:r>
              <a:rPr lang="en-US" altLang="zh-CN" sz="1800" dirty="0" err="1"/>
              <a:t>WiFi</a:t>
            </a:r>
            <a:r>
              <a:rPr lang="zh-CN" altLang="en-US" sz="1800" dirty="0"/>
              <a:t>和热点，对于安卓手机和苹果手机，投屏界面可以做到一致。它与其他模块以及</a:t>
            </a:r>
            <a:r>
              <a:rPr lang="en-US" altLang="zh-CN" sz="1800" dirty="0"/>
              <a:t>JS</a:t>
            </a:r>
            <a:r>
              <a:rPr lang="zh-CN" altLang="en-US" sz="1800" dirty="0"/>
              <a:t>应用层的交互可以基于</a:t>
            </a:r>
            <a:r>
              <a:rPr lang="en-US" altLang="zh-CN" sz="1800" dirty="0" err="1"/>
              <a:t>ubus</a:t>
            </a:r>
            <a:r>
              <a:rPr lang="zh-CN" altLang="en-US" sz="1800" dirty="0"/>
              <a:t>来进行。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/>
              <a:t>vendor storage</a:t>
            </a:r>
            <a:r>
              <a:rPr lang="zh-CN" altLang="en-US" sz="2000" b="1" dirty="0"/>
              <a:t>：</a:t>
            </a:r>
            <a:r>
              <a:rPr lang="zh-CN" altLang="en-US" sz="1800" dirty="0"/>
              <a:t>是用于存储供应商特定数据的</a:t>
            </a:r>
            <a:r>
              <a:rPr lang="en-US" altLang="zh-CN" sz="1800" dirty="0"/>
              <a:t>NVM</a:t>
            </a:r>
            <a:r>
              <a:rPr lang="zh-CN" altLang="en-US" sz="1800" dirty="0"/>
              <a:t>区域，主要用于存储序列号（</a:t>
            </a:r>
            <a:r>
              <a:rPr lang="en-US" altLang="zh-CN" sz="1800" dirty="0"/>
              <a:t>SN</a:t>
            </a:r>
            <a:r>
              <a:rPr lang="zh-CN" altLang="en-US" sz="1800" dirty="0"/>
              <a:t>）、</a:t>
            </a:r>
            <a:r>
              <a:rPr lang="en-US" altLang="zh-CN" sz="1800" dirty="0"/>
              <a:t>MAC </a:t>
            </a:r>
            <a:r>
              <a:rPr lang="zh-CN" altLang="en-US" sz="1800" dirty="0"/>
              <a:t>地址、蓝牙地址、</a:t>
            </a:r>
            <a:r>
              <a:rPr lang="en-US" altLang="zh-CN" sz="1800" dirty="0"/>
              <a:t>UUID</a:t>
            </a:r>
            <a:r>
              <a:rPr lang="zh-CN" altLang="en-US" sz="1800" dirty="0"/>
              <a:t>等关键信息。其核心特性是：支持唯一</a:t>
            </a:r>
            <a:r>
              <a:rPr lang="en-US" altLang="zh-CN" sz="1800" dirty="0"/>
              <a:t>ID</a:t>
            </a:r>
            <a:r>
              <a:rPr lang="zh-CN" altLang="en-US" sz="1800" dirty="0"/>
              <a:t>访问；支持掉电恢复；支持在 </a:t>
            </a:r>
            <a:r>
              <a:rPr lang="en-US" altLang="zh-CN" sz="1800" dirty="0" err="1"/>
              <a:t>Uboot</a:t>
            </a:r>
            <a:r>
              <a:rPr lang="zh-CN" altLang="en-US" sz="1800" dirty="0"/>
              <a:t>、</a:t>
            </a:r>
            <a:r>
              <a:rPr lang="en-US" altLang="zh-CN" sz="1800" dirty="0"/>
              <a:t>Kernel </a:t>
            </a:r>
            <a:r>
              <a:rPr lang="zh-CN" altLang="en-US" sz="1800" dirty="0"/>
              <a:t>和 </a:t>
            </a:r>
            <a:r>
              <a:rPr lang="en-US" altLang="zh-CN" sz="1800" dirty="0"/>
              <a:t>Linux </a:t>
            </a:r>
            <a:r>
              <a:rPr lang="zh-CN" altLang="en-US" sz="1800" dirty="0"/>
              <a:t>应用层进行读写操作，通过命令行、</a:t>
            </a:r>
            <a:r>
              <a:rPr lang="en-US" altLang="zh-CN" sz="1800" dirty="0"/>
              <a:t>USB</a:t>
            </a:r>
            <a:r>
              <a:rPr lang="zh-CN" altLang="en-US" sz="1800" dirty="0"/>
              <a:t>、</a:t>
            </a:r>
            <a:r>
              <a:rPr lang="en-US" altLang="zh-CN" sz="1800" dirty="0"/>
              <a:t>IOCTL </a:t>
            </a:r>
            <a:r>
              <a:rPr lang="zh-CN" altLang="en-US" sz="1800" dirty="0"/>
              <a:t>等接口实现跨平台通信。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altLang="zh-CN" sz="2000" b="1" dirty="0"/>
              <a:t>Log</a:t>
            </a:r>
            <a:r>
              <a:rPr lang="zh-CN" altLang="en-US" sz="2000" b="1" dirty="0"/>
              <a:t>：</a:t>
            </a:r>
            <a:r>
              <a:rPr lang="zh-CN" altLang="en-US" sz="1800" dirty="0"/>
              <a:t>智能仪表盘项目使用</a:t>
            </a:r>
            <a:r>
              <a:rPr lang="en-US" altLang="zh-CN" sz="1800" dirty="0"/>
              <a:t>Linux</a:t>
            </a:r>
            <a:r>
              <a:rPr lang="zh-CN" altLang="en-US" sz="1800" dirty="0"/>
              <a:t>系统标准日志机制：</a:t>
            </a:r>
            <a:r>
              <a:rPr lang="en-US" altLang="zh-CN" sz="1800" dirty="0"/>
              <a:t>syslog</a:t>
            </a:r>
            <a:r>
              <a:rPr lang="zh-CN" altLang="en-US" sz="1800" dirty="0"/>
              <a:t>。</a:t>
            </a:r>
            <a:r>
              <a:rPr lang="en-US" altLang="zh-CN" sz="1800" dirty="0"/>
              <a:t>Syslog</a:t>
            </a:r>
            <a:r>
              <a:rPr lang="zh-CN" altLang="en-US" sz="1800" dirty="0"/>
              <a:t>支持将系统进程、内核及应用程序的日志信息循环保存在本地日志文件。每个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应用程序可以自行定义日志的模块名，设置日志掩码等。</a:t>
            </a:r>
            <a:endParaRPr lang="zh-CN" altLang="en-US" sz="18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46200E6-E480-777A-46CA-4701C5CD9428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4E01A55B-780F-DC88-D0C1-ABAE2817A60C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7" name="文本框 11">
              <a:extLst>
                <a:ext uri="{FF2B5EF4-FFF2-40B4-BE49-F238E27FC236}">
                  <a16:creationId xmlns:a16="http://schemas.microsoft.com/office/drawing/2014/main" id="{5424B3E5-ECA0-A7EA-2A20-74F13103BC9E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BD5A950F-E55C-AE43-116A-AD5E45205281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9" name="图片 13">
              <a:extLst>
                <a:ext uri="{FF2B5EF4-FFF2-40B4-BE49-F238E27FC236}">
                  <a16:creationId xmlns:a16="http://schemas.microsoft.com/office/drawing/2014/main" id="{9B70767C-3AA7-B3EF-38D2-C17837EE6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726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C85F-924C-208A-1C4F-42728CE8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7A88A-212F-1752-5042-6CAB78B4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295" y="1709739"/>
            <a:ext cx="5927155" cy="2629180"/>
          </a:xfrm>
        </p:spPr>
        <p:txBody>
          <a:bodyPr>
            <a:normAutofit/>
          </a:bodyPr>
          <a:lstStyle/>
          <a:p>
            <a:r>
              <a:rPr lang="en-US" altLang="zh-CN" sz="5400" dirty="0">
                <a:latin typeface="Segoe UI" panose="020B0502040204020203" pitchFamily="34" charset="0"/>
                <a:ea typeface="等线" panose="02010600030101010101" pitchFamily="2" charset="-122"/>
              </a:rPr>
              <a:t>a-cockpit </a:t>
            </a:r>
            <a:r>
              <a:rPr lang="zh-CN" altLang="en-US" sz="5400" dirty="0">
                <a:latin typeface="Segoe UI" panose="020B0502040204020203" pitchFamily="34" charset="0"/>
                <a:ea typeface="等线" panose="02010600030101010101" pitchFamily="2" charset="-122"/>
              </a:rPr>
              <a:t>通信机制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B78D3C48-57A9-C00F-5146-FE5E7E01D98C}"/>
              </a:ext>
            </a:extLst>
          </p:cNvPr>
          <p:cNvSpPr txBox="1"/>
          <p:nvPr/>
        </p:nvSpPr>
        <p:spPr>
          <a:xfrm>
            <a:off x="1341690" y="1365389"/>
            <a:ext cx="4021998" cy="357867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682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PART</a:t>
            </a:r>
            <a:r>
              <a:rPr lang="en-US" altLang="zh-CN" sz="2265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2</a:t>
            </a:r>
            <a:endParaRPr lang="zh-CN" altLang="en-US" sz="22655" b="1" dirty="0">
              <a:solidFill>
                <a:srgbClr val="1F608B">
                  <a:lumMod val="60000"/>
                  <a:lumOff val="40000"/>
                </a:srgbClr>
              </a:solidFill>
              <a:latin typeface="Segoe UI" panose="020B0502040204020203" pitchFamily="34" charset="0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grpSp>
        <p:nvGrpSpPr>
          <p:cNvPr id="3" name="组合 30">
            <a:extLst>
              <a:ext uri="{FF2B5EF4-FFF2-40B4-BE49-F238E27FC236}">
                <a16:creationId xmlns:a16="http://schemas.microsoft.com/office/drawing/2014/main" id="{6DF1E930-8B25-CB54-CAC6-49EF82D83EED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6306248"/>
            <a:chExt cx="12192635" cy="551815"/>
          </a:xfrm>
        </p:grpSpPr>
        <p:sp>
          <p:nvSpPr>
            <p:cNvPr id="10" name="矩形 10">
              <a:extLst>
                <a:ext uri="{FF2B5EF4-FFF2-40B4-BE49-F238E27FC236}">
                  <a16:creationId xmlns:a16="http://schemas.microsoft.com/office/drawing/2014/main" id="{8FE6C51C-A440-ADA1-18E9-52FCD34844DA}"/>
                </a:ext>
              </a:extLst>
            </p:cNvPr>
            <p:cNvSpPr/>
            <p:nvPr/>
          </p:nvSpPr>
          <p:spPr>
            <a:xfrm>
              <a:off x="63" y="6306248"/>
              <a:ext cx="12192635" cy="551815"/>
            </a:xfrm>
            <a:prstGeom prst="rect">
              <a:avLst/>
            </a:prstGeom>
            <a:gradFill flip="none"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0800000" scaled="1"/>
              <a:tileRect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1" name="文本框 11">
              <a:extLst>
                <a:ext uri="{FF2B5EF4-FFF2-40B4-BE49-F238E27FC236}">
                  <a16:creationId xmlns:a16="http://schemas.microsoft.com/office/drawing/2014/main" id="{566E5F27-9B84-61BF-B75E-7CDAFBDEAEA5}"/>
                </a:ext>
              </a:extLst>
            </p:cNvPr>
            <p:cNvSpPr txBox="1"/>
            <p:nvPr/>
          </p:nvSpPr>
          <p:spPr>
            <a:xfrm>
              <a:off x="483235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12" name="文本框 12">
              <a:extLst>
                <a:ext uri="{FF2B5EF4-FFF2-40B4-BE49-F238E27FC236}">
                  <a16:creationId xmlns:a16="http://schemas.microsoft.com/office/drawing/2014/main" id="{8EBA35E5-DE30-9721-F40E-81A9C29B0783}"/>
                </a:ext>
              </a:extLst>
            </p:cNvPr>
            <p:cNvSpPr txBox="1"/>
            <p:nvPr/>
          </p:nvSpPr>
          <p:spPr>
            <a:xfrm>
              <a:off x="9050020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13" name="图片 13">
              <a:extLst>
                <a:ext uri="{FF2B5EF4-FFF2-40B4-BE49-F238E27FC236}">
                  <a16:creationId xmlns:a16="http://schemas.microsoft.com/office/drawing/2014/main" id="{36551E44-F167-EAEE-CE40-13056082C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</a:blip>
            <a:stretch>
              <a:fillRect/>
            </a:stretch>
          </p:blipFill>
          <p:spPr>
            <a:xfrm>
              <a:off x="11198225" y="6379591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868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B363D-602A-98FA-5A2D-AEE48C98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r>
              <a:rPr lang="zh-CN" altLang="en-US" dirty="0"/>
              <a:t>通信机制概述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C106D-8114-19E1-C70C-35B6BE88D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25" y="1209368"/>
            <a:ext cx="10024704" cy="493369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JS App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与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JS App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之间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DCM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组件的交互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EMQ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组件的交互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systemStorage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组件的交互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JS App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与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Native Service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之间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ubus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c-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js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绑定的交互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Native Service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与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Native Service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之间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ubus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Linux IPC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的交互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A50AE08-A699-2E44-CBCF-D094AB2DA249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02C63F89-BC03-F42B-2859-CD98522D7D18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51C426F0-9512-992D-0202-36A2E65FDD88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246AB484-0E07-D269-4204-0CDAA2E0A7A3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538F9967-897F-BFAC-AEB5-3E9241B34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330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8B522-7AEB-CAE6-F062-76981EAC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JS</a:t>
            </a:r>
            <a:r>
              <a:rPr lang="zh-CN" altLang="en-US" dirty="0"/>
              <a:t>基于</a:t>
            </a:r>
            <a:r>
              <a:rPr lang="en-US" altLang="zh-CN" dirty="0"/>
              <a:t>DCM</a:t>
            </a:r>
            <a:r>
              <a:rPr lang="zh-CN" altLang="en-US" dirty="0"/>
              <a:t>的交互机制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62524-8C2C-59EF-C885-87F05333B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7316" y="1159809"/>
            <a:ext cx="3876204" cy="450357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DCM(Data Cache Management)</a:t>
            </a:r>
            <a:r>
              <a:rPr lang="zh-CN" altLang="en-US" sz="2400" dirty="0"/>
              <a:t>，数据管理组件，目前只用于</a:t>
            </a:r>
            <a:r>
              <a:rPr lang="en-US" altLang="zh-CN" sz="2400" dirty="0"/>
              <a:t>JS</a:t>
            </a:r>
            <a:r>
              <a:rPr lang="zh-CN" altLang="en-US" sz="2400" dirty="0"/>
              <a:t>与</a:t>
            </a:r>
            <a:r>
              <a:rPr lang="en-US" altLang="zh-CN" sz="2400" dirty="0"/>
              <a:t>JS</a:t>
            </a:r>
            <a:r>
              <a:rPr lang="zh-CN" altLang="en-US" sz="2400" dirty="0"/>
              <a:t>模块之间的数据传输和交互：</a:t>
            </a:r>
            <a:endParaRPr lang="en-US" altLang="zh-CN" sz="2400" dirty="0"/>
          </a:p>
          <a:p>
            <a:pPr lvl="1"/>
            <a:r>
              <a:rPr lang="zh-CN" altLang="en-US" sz="2000" dirty="0"/>
              <a:t>支持 </a:t>
            </a:r>
            <a:r>
              <a:rPr lang="en-US" altLang="zh-CN" sz="2000" dirty="0"/>
              <a:t>Value Change </a:t>
            </a:r>
            <a:r>
              <a:rPr lang="zh-CN" altLang="en-US" sz="2000" dirty="0"/>
              <a:t>模型</a:t>
            </a:r>
          </a:p>
          <a:p>
            <a:pPr lvl="1"/>
            <a:r>
              <a:rPr lang="zh-CN" altLang="en-US" sz="2000" dirty="0"/>
              <a:t>支持存取任意类型数据</a:t>
            </a:r>
          </a:p>
          <a:p>
            <a:pPr lvl="1"/>
            <a:r>
              <a:rPr lang="zh-CN" altLang="en-US" sz="2000" dirty="0"/>
              <a:t>支持多实例功能，解耦不同模块间数据处理；</a:t>
            </a:r>
          </a:p>
          <a:p>
            <a:pPr lvl="1"/>
            <a:r>
              <a:rPr lang="zh-CN" altLang="en-US" sz="2000" dirty="0"/>
              <a:t>支持订阅发布模型，可用于消息推送和通知</a:t>
            </a:r>
          </a:p>
          <a:p>
            <a:pPr lvl="1"/>
            <a:r>
              <a:rPr lang="zh-CN" altLang="en-US" sz="2000" strike="sngStrike" dirty="0"/>
              <a:t>支持数据持久化保存功能；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2A6E81A-A79D-E106-152A-2B7230657B62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A96FAB95-8688-611D-1CD0-7E106390EFC3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14B532A8-95F7-19FD-569B-9AF57FFE1E02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DBFF7BDB-1FE2-78A0-2E4B-8C78E2846784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1820C88E-3C2B-A894-B328-32E115F00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椭圆 8">
            <a:extLst>
              <a:ext uri="{FF2B5EF4-FFF2-40B4-BE49-F238E27FC236}">
                <a16:creationId xmlns:a16="http://schemas.microsoft.com/office/drawing/2014/main" id="{B3AE0E50-6412-4796-90F6-A07CC7B45F4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05313" y="2458063"/>
            <a:ext cx="1406014" cy="1038336"/>
          </a:xfrm>
          <a:prstGeom prst="ellipse">
            <a:avLst/>
          </a:prstGeom>
          <a:solidFill>
            <a:srgbClr val="00B0F0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578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b="1" i="1" dirty="0">
                <a:solidFill>
                  <a:schemeClr val="bg1"/>
                </a:solidFill>
                <a:sym typeface="+mn-ea"/>
              </a:rPr>
              <a:t>DCM</a:t>
            </a:r>
            <a:endParaRPr lang="zh-CN" altLang="en-US" b="1" i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95638B5-E7EA-E9C4-5CA5-436F94D93625}"/>
              </a:ext>
            </a:extLst>
          </p:cNvPr>
          <p:cNvSpPr/>
          <p:nvPr/>
        </p:nvSpPr>
        <p:spPr>
          <a:xfrm>
            <a:off x="609600" y="2458063"/>
            <a:ext cx="1563329" cy="10383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A05D08A-BB83-367A-8E49-AB6391DA22DE}"/>
              </a:ext>
            </a:extLst>
          </p:cNvPr>
          <p:cNvSpPr/>
          <p:nvPr/>
        </p:nvSpPr>
        <p:spPr>
          <a:xfrm>
            <a:off x="5614218" y="2458063"/>
            <a:ext cx="1563329" cy="1038336"/>
          </a:xfrm>
          <a:prstGeom prst="roundRect">
            <a:avLst/>
          </a:prstGeom>
          <a:solidFill>
            <a:srgbClr val="92D050">
              <a:alpha val="9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480B4AD-A43A-B419-3EE2-10FA9A52BD5A}"/>
              </a:ext>
            </a:extLst>
          </p:cNvPr>
          <p:cNvCxnSpPr>
            <a:cxnSpLocks/>
          </p:cNvCxnSpPr>
          <p:nvPr/>
        </p:nvCxnSpPr>
        <p:spPr>
          <a:xfrm flipH="1">
            <a:off x="2172929" y="2772695"/>
            <a:ext cx="1111045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EFA91FA-535A-98E5-855B-729319DC6F93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4611327" y="2977231"/>
            <a:ext cx="1002891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69DAAFB-E7E7-8B49-2607-3F697147099D}"/>
              </a:ext>
            </a:extLst>
          </p:cNvPr>
          <p:cNvCxnSpPr>
            <a:cxnSpLocks/>
          </p:cNvCxnSpPr>
          <p:nvPr/>
        </p:nvCxnSpPr>
        <p:spPr>
          <a:xfrm flipH="1">
            <a:off x="2172929" y="3180734"/>
            <a:ext cx="1111045" cy="0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34D6F6A-A7A0-6342-CAF1-680ECB616A06}"/>
              </a:ext>
            </a:extLst>
          </p:cNvPr>
          <p:cNvSpPr txBox="1"/>
          <p:nvPr/>
        </p:nvSpPr>
        <p:spPr>
          <a:xfrm>
            <a:off x="4683006" y="247314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setItem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8C643B-8B78-BE97-D09E-41815277C057}"/>
              </a:ext>
            </a:extLst>
          </p:cNvPr>
          <p:cNvSpPr txBox="1"/>
          <p:nvPr/>
        </p:nvSpPr>
        <p:spPr>
          <a:xfrm>
            <a:off x="2202422" y="2342864"/>
            <a:ext cx="1406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onChange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60CE2B-6376-EECC-0F3C-ED0F83141088}"/>
              </a:ext>
            </a:extLst>
          </p:cNvPr>
          <p:cNvSpPr txBox="1"/>
          <p:nvPr/>
        </p:nvSpPr>
        <p:spPr>
          <a:xfrm>
            <a:off x="2309941" y="2799734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getItem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076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FB09-B715-78BC-F442-4A17BB30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800CE-C8E2-FFD2-9CB4-D6BC2B82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JS</a:t>
            </a:r>
            <a:r>
              <a:rPr lang="zh-CN" altLang="en-US" dirty="0"/>
              <a:t>基于</a:t>
            </a:r>
            <a:r>
              <a:rPr lang="en-US" altLang="zh-CN" dirty="0"/>
              <a:t>DCM</a:t>
            </a:r>
            <a:r>
              <a:rPr lang="zh-CN" altLang="en-US" dirty="0"/>
              <a:t>的交互示例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736B22-4FE6-B5A5-D239-C4BADFA82562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53C80398-797A-7192-11A4-66125FB79075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ED9DAB45-9587-692D-3357-12CED06C4E3E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2AE0A269-0782-8E22-D0E7-26954E067952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3D2496C8-975F-88C7-6982-25552BC7C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970AA439-A56A-2AD1-D97F-21CD2117D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716" y="1159809"/>
            <a:ext cx="5235394" cy="4946023"/>
          </a:xfrm>
          <a:prstGeom prst="rect">
            <a:avLst/>
          </a:prstGeom>
        </p:spPr>
      </p:pic>
      <p:pic>
        <p:nvPicPr>
          <p:cNvPr id="23" name="内容占位符 22">
            <a:extLst>
              <a:ext uri="{FF2B5EF4-FFF2-40B4-BE49-F238E27FC236}">
                <a16:creationId xmlns:a16="http://schemas.microsoft.com/office/drawing/2014/main" id="{785D8C43-ADD2-0DB7-92C9-90653CDD4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332" y="1420717"/>
            <a:ext cx="3381375" cy="3657600"/>
          </a:xfrm>
        </p:spPr>
      </p:pic>
    </p:spTree>
    <p:extLst>
      <p:ext uri="{BB962C8B-B14F-4D97-AF65-F5344CB8AC3E}">
        <p14:creationId xmlns:p14="http://schemas.microsoft.com/office/powerpoint/2010/main" val="67356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57C3-EB1D-15D8-0290-02CA138B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5C6D8-55EC-339A-ECD8-91D854C9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JS</a:t>
            </a:r>
            <a:r>
              <a:rPr lang="zh-CN" altLang="en-US" dirty="0"/>
              <a:t>基于</a:t>
            </a:r>
            <a:r>
              <a:rPr lang="en-US" altLang="zh-CN" dirty="0"/>
              <a:t>EMQ</a:t>
            </a:r>
            <a:r>
              <a:rPr lang="zh-CN" altLang="en-US" dirty="0"/>
              <a:t>的交互机制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58BF8-3983-CE67-AC71-8FE80450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7316" y="1159809"/>
            <a:ext cx="3876204" cy="4513404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EMQ(Enhance Message Queue )</a:t>
            </a:r>
            <a:r>
              <a:rPr lang="zh-CN" altLang="en-US" sz="2400" dirty="0"/>
              <a:t>，是一种发布订阅式的消息队列组件，目前只用于</a:t>
            </a:r>
            <a:r>
              <a:rPr lang="en-US" altLang="zh-CN" sz="2400" dirty="0"/>
              <a:t>JS</a:t>
            </a:r>
            <a:r>
              <a:rPr lang="zh-CN" altLang="en-US" sz="2400" dirty="0"/>
              <a:t>与</a:t>
            </a:r>
            <a:r>
              <a:rPr lang="en-US" altLang="zh-CN" sz="2400" dirty="0"/>
              <a:t>JS</a:t>
            </a:r>
            <a:r>
              <a:rPr lang="zh-CN" altLang="en-US" sz="2400" dirty="0"/>
              <a:t>模块之间的消息交互：</a:t>
            </a:r>
            <a:endParaRPr lang="en-US" altLang="zh-CN" sz="2400" dirty="0"/>
          </a:p>
          <a:p>
            <a:pPr lvl="1"/>
            <a:r>
              <a:rPr lang="en-US" altLang="zh-CN" sz="2000" dirty="0"/>
              <a:t> </a:t>
            </a:r>
            <a:r>
              <a:rPr lang="zh-CN" altLang="en-US" sz="2000" dirty="0"/>
              <a:t>支持一发多收。一个生产者生产消息可被多个消费者使用</a:t>
            </a:r>
            <a:endParaRPr lang="en-US" altLang="zh-CN" sz="2000" dirty="0"/>
          </a:p>
          <a:p>
            <a:pPr lvl="1"/>
            <a:r>
              <a:rPr lang="zh-CN" altLang="en-US" sz="2000" dirty="0"/>
              <a:t>支持多个消息绑定。一个消费可以绑定多个不同的通道，接收不同生产者发送的消息。</a:t>
            </a:r>
            <a:endParaRPr lang="en-US" altLang="zh-CN" sz="2000" dirty="0"/>
          </a:p>
          <a:p>
            <a:pPr lvl="1"/>
            <a:r>
              <a:rPr lang="zh-CN" altLang="en-US" sz="2000" dirty="0"/>
              <a:t>发布消息系统开销小，效率高。</a:t>
            </a:r>
            <a:endParaRPr lang="en-US" altLang="zh-CN" sz="2000" dirty="0"/>
          </a:p>
          <a:p>
            <a:pPr lvl="1"/>
            <a:r>
              <a:rPr lang="zh-CN" altLang="en-US" sz="2000" dirty="0"/>
              <a:t>不同模块间低耦合。</a:t>
            </a:r>
            <a:endParaRPr lang="en-US" altLang="zh-CN" sz="2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7E2935-FF8B-B253-C93C-DE90E24D08AA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EFB5EE52-0EE1-57BC-EADF-77CB8EB9AC47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F07DB1AE-E723-BBC2-84BF-9D212989DDD4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53902D4C-6592-EA94-3400-899AF1CA2CA8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58733AAD-30C1-8A93-F07A-184BC669E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椭圆 8">
            <a:extLst>
              <a:ext uri="{FF2B5EF4-FFF2-40B4-BE49-F238E27FC236}">
                <a16:creationId xmlns:a16="http://schemas.microsoft.com/office/drawing/2014/main" id="{A39B7DD8-8EEF-384C-593B-32FBD2944DF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05313" y="2458063"/>
            <a:ext cx="1406014" cy="1038336"/>
          </a:xfrm>
          <a:prstGeom prst="ellipse">
            <a:avLst/>
          </a:prstGeom>
          <a:solidFill>
            <a:srgbClr val="00B0F0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578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b="1" i="1" dirty="0">
                <a:solidFill>
                  <a:schemeClr val="bg1"/>
                </a:solidFill>
                <a:sym typeface="+mn-ea"/>
              </a:rPr>
              <a:t>EMQ</a:t>
            </a:r>
            <a:endParaRPr lang="zh-CN" altLang="en-US" b="1" i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7BF6687-34D3-2AF2-6AFC-103067D1437B}"/>
              </a:ext>
            </a:extLst>
          </p:cNvPr>
          <p:cNvSpPr/>
          <p:nvPr/>
        </p:nvSpPr>
        <p:spPr>
          <a:xfrm>
            <a:off x="609600" y="2458063"/>
            <a:ext cx="1563329" cy="10383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B44850-89EE-E39E-64AA-18E19B0C0D70}"/>
              </a:ext>
            </a:extLst>
          </p:cNvPr>
          <p:cNvSpPr/>
          <p:nvPr/>
        </p:nvSpPr>
        <p:spPr>
          <a:xfrm>
            <a:off x="5614218" y="2458063"/>
            <a:ext cx="1563329" cy="1038336"/>
          </a:xfrm>
          <a:prstGeom prst="roundRect">
            <a:avLst/>
          </a:prstGeom>
          <a:solidFill>
            <a:srgbClr val="92D050">
              <a:alpha val="9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E685B87-9385-631D-4E12-198BB5B3A484}"/>
              </a:ext>
            </a:extLst>
          </p:cNvPr>
          <p:cNvCxnSpPr>
            <a:cxnSpLocks/>
            <a:stCxn id="9" idx="2"/>
          </p:cNvCxnSpPr>
          <p:nvPr/>
        </p:nvCxnSpPr>
        <p:spPr>
          <a:xfrm flipH="1" flipV="1">
            <a:off x="2172929" y="2977229"/>
            <a:ext cx="1032384" cy="2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1003418-42DF-48FF-76E9-92466F37C99F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4611327" y="2977231"/>
            <a:ext cx="1002891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D37291F-DA58-AB13-5826-795E3D0A0EA5}"/>
              </a:ext>
            </a:extLst>
          </p:cNvPr>
          <p:cNvSpPr txBox="1"/>
          <p:nvPr/>
        </p:nvSpPr>
        <p:spPr>
          <a:xfrm>
            <a:off x="4798423" y="2506483"/>
            <a:ext cx="62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send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936ACE-9FAB-FE03-8E8C-FD8FFCADBEC2}"/>
              </a:ext>
            </a:extLst>
          </p:cNvPr>
          <p:cNvSpPr txBox="1"/>
          <p:nvPr/>
        </p:nvSpPr>
        <p:spPr>
          <a:xfrm>
            <a:off x="2109018" y="2506483"/>
            <a:ext cx="1406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onMessage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884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75B2-AD2B-F42F-B03B-A7D632AC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3D03E-F774-E641-4101-6035CBBA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JS</a:t>
            </a:r>
            <a:r>
              <a:rPr lang="zh-CN" altLang="en-US" dirty="0"/>
              <a:t>基于</a:t>
            </a:r>
            <a:r>
              <a:rPr lang="en-US" altLang="zh-CN" dirty="0"/>
              <a:t>EMQ</a:t>
            </a:r>
            <a:r>
              <a:rPr lang="zh-CN" altLang="en-US" dirty="0"/>
              <a:t>的交互示例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E0D1886-735B-3D4F-2E9F-648999A9A770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E2CD95CE-CB98-78BC-E6D5-D8AF7DD01A58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2E533482-F9C1-4715-FFCB-67491EB4AFE1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CCCAB560-F940-0575-7D41-93EA32D370B6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5801A022-87C8-F192-6EE7-55FC88241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46F529A1-234A-E12A-3FE0-474A1CDB1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52" y="1321489"/>
            <a:ext cx="4159045" cy="4611141"/>
          </a:xfrm>
          <a:prstGeom prst="rect">
            <a:avLst/>
          </a:prstGeom>
        </p:spPr>
      </p:pic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E7091767-74AF-DEF0-C73D-C1CE7DABA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422" y="1420717"/>
            <a:ext cx="3381375" cy="3657600"/>
          </a:xfrm>
        </p:spPr>
      </p:pic>
    </p:spTree>
    <p:extLst>
      <p:ext uri="{BB962C8B-B14F-4D97-AF65-F5344CB8AC3E}">
        <p14:creationId xmlns:p14="http://schemas.microsoft.com/office/powerpoint/2010/main" val="306704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8D8C-2F35-FA86-2DB0-BEB1D595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56FEC-B152-9DF1-5605-848FD1FE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/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JS</a:t>
            </a:r>
            <a:r>
              <a:rPr lang="zh-CN" altLang="en-US" dirty="0"/>
              <a:t>基于</a:t>
            </a:r>
            <a:r>
              <a:rPr lang="en-US" altLang="zh-CN" dirty="0" err="1"/>
              <a:t>systemStorage</a:t>
            </a:r>
            <a:r>
              <a:rPr lang="zh-CN" altLang="en-US" dirty="0"/>
              <a:t>的交互机制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1FAE8-BDC0-4D8C-5FAE-168EA30C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2278" y="1159809"/>
            <a:ext cx="4041242" cy="48280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/>
              <a:t>主要用于存储应用中各种类型的数据，应用层可通过接口函数，读取、修改、监听、删除存储在外部存储介质上的数据，实现数据持久化保存：</a:t>
            </a:r>
            <a:endParaRPr lang="en-US" altLang="zh-CN" sz="2400" dirty="0"/>
          </a:p>
          <a:p>
            <a:pPr lvl="1"/>
            <a:r>
              <a:rPr lang="zh-CN" altLang="en-US" sz="1800" dirty="0"/>
              <a:t>订阅发布模型，用于消息推送和通知；</a:t>
            </a:r>
          </a:p>
          <a:p>
            <a:pPr lvl="1"/>
            <a:r>
              <a:rPr lang="zh-CN" altLang="en-US" sz="1800" dirty="0"/>
              <a:t>支持数据改变回调机制，可以同时注册多个回调函数；</a:t>
            </a:r>
          </a:p>
          <a:p>
            <a:pPr lvl="1"/>
            <a:r>
              <a:rPr lang="zh-CN" altLang="en-US" sz="1800" dirty="0"/>
              <a:t>支持任意长度、任意格式数据缓存操作，如 </a:t>
            </a:r>
            <a:r>
              <a:rPr lang="en-US" altLang="zh-CN" sz="1800" dirty="0" err="1"/>
              <a:t>json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ubjson</a:t>
            </a:r>
            <a:r>
              <a:rPr lang="en-US" altLang="zh-CN" sz="1800" dirty="0"/>
              <a:t> </a:t>
            </a:r>
            <a:r>
              <a:rPr lang="zh-CN" altLang="en-US" sz="1800" dirty="0"/>
              <a:t>格式数据；</a:t>
            </a:r>
          </a:p>
          <a:p>
            <a:pPr lvl="1"/>
            <a:r>
              <a:rPr lang="zh-CN" altLang="en-US" sz="1800" dirty="0"/>
              <a:t>支持通过 </a:t>
            </a:r>
            <a:r>
              <a:rPr lang="en-US" altLang="zh-CN" sz="1800" dirty="0"/>
              <a:t>Hash </a:t>
            </a:r>
            <a:r>
              <a:rPr lang="zh-CN" altLang="en-US" sz="1800" dirty="0"/>
              <a:t>方式快速查找数据缓存；</a:t>
            </a:r>
          </a:p>
          <a:p>
            <a:pPr lvl="1"/>
            <a:r>
              <a:rPr lang="zh-CN" altLang="en-US" sz="1800" dirty="0"/>
              <a:t>支持多实例功能，解耦不同模块间数据处理；</a:t>
            </a:r>
          </a:p>
          <a:p>
            <a:pPr lvl="1"/>
            <a:r>
              <a:rPr lang="zh-CN" altLang="en-US" sz="1800" dirty="0"/>
              <a:t>支持数据持久化保存功能</a:t>
            </a:r>
            <a:endParaRPr lang="zh-CN" altLang="en-US" sz="1800" strike="sngStrike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915AAD-8846-DB1E-A6D4-4A02BEC26E04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0DBBFC1F-7DA0-6A8C-EAB1-996255013A95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10120EB2-745A-87FE-9AD1-DB8995C87483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D1D8DC33-2AEA-0DC1-8CE2-B85F485EB6FF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E4EF7E76-5C2B-CCA6-5AAD-B82934B1E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椭圆 8">
            <a:extLst>
              <a:ext uri="{FF2B5EF4-FFF2-40B4-BE49-F238E27FC236}">
                <a16:creationId xmlns:a16="http://schemas.microsoft.com/office/drawing/2014/main" id="{EF1E4C72-6EB8-942E-AA83-AF43AC6D4D4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05313" y="2458063"/>
            <a:ext cx="1374411" cy="1038336"/>
          </a:xfrm>
          <a:prstGeom prst="ellipse">
            <a:avLst/>
          </a:prstGeom>
          <a:solidFill>
            <a:srgbClr val="00B0F0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578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b="1" i="1" dirty="0">
                <a:solidFill>
                  <a:schemeClr val="bg1"/>
                </a:solidFill>
                <a:sym typeface="+mn-ea"/>
              </a:rPr>
              <a:t>system</a:t>
            </a:r>
          </a:p>
          <a:p>
            <a:pPr lvl="0" algn="ctr">
              <a:buClrTx/>
              <a:buSzTx/>
              <a:buFontTx/>
            </a:pPr>
            <a:r>
              <a:rPr lang="en-US" altLang="zh-CN" b="1" i="1" dirty="0">
                <a:solidFill>
                  <a:schemeClr val="bg1"/>
                </a:solidFill>
                <a:sym typeface="+mn-ea"/>
              </a:rPr>
              <a:t>Storage</a:t>
            </a:r>
            <a:endParaRPr lang="zh-CN" altLang="en-US" b="1" i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7938910-9701-12BE-A69A-DBF20A99F0C0}"/>
              </a:ext>
            </a:extLst>
          </p:cNvPr>
          <p:cNvSpPr/>
          <p:nvPr/>
        </p:nvSpPr>
        <p:spPr>
          <a:xfrm>
            <a:off x="609601" y="2458063"/>
            <a:ext cx="1111046" cy="10383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295CF4-D1FB-5805-4B9A-878BC6BC3CFF}"/>
              </a:ext>
            </a:extLst>
          </p:cNvPr>
          <p:cNvSpPr/>
          <p:nvPr/>
        </p:nvSpPr>
        <p:spPr>
          <a:xfrm>
            <a:off x="5840361" y="2458063"/>
            <a:ext cx="1337186" cy="1038336"/>
          </a:xfrm>
          <a:prstGeom prst="roundRect">
            <a:avLst/>
          </a:prstGeom>
          <a:solidFill>
            <a:srgbClr val="92D050">
              <a:alpha val="9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0C58099-5076-BA29-4E05-683193CA8D2B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720647" y="2977229"/>
            <a:ext cx="1510561" cy="2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F67C176-1E04-6804-AFF6-CD1CB0E74973}"/>
              </a:ext>
            </a:extLst>
          </p:cNvPr>
          <p:cNvCxnSpPr>
            <a:cxnSpLocks/>
            <a:stCxn id="11" idx="1"/>
            <a:endCxn id="9" idx="6"/>
          </p:cNvCxnSpPr>
          <p:nvPr/>
        </p:nvCxnSpPr>
        <p:spPr>
          <a:xfrm flipH="1">
            <a:off x="4579724" y="2977231"/>
            <a:ext cx="1260637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168A218-15CD-996D-F14D-4FF4950D7A81}"/>
              </a:ext>
            </a:extLst>
          </p:cNvPr>
          <p:cNvSpPr txBox="1"/>
          <p:nvPr/>
        </p:nvSpPr>
        <p:spPr>
          <a:xfrm>
            <a:off x="4272984" y="2199003"/>
            <a:ext cx="164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FF0000"/>
                </a:solidFill>
              </a:rPr>
              <a:t>systemStorage.setItem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CFD790-C132-D5E3-9401-0B1458515CBC}"/>
              </a:ext>
            </a:extLst>
          </p:cNvPr>
          <p:cNvSpPr txBox="1"/>
          <p:nvPr/>
        </p:nvSpPr>
        <p:spPr>
          <a:xfrm>
            <a:off x="1651939" y="2318317"/>
            <a:ext cx="1647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>
                <a:solidFill>
                  <a:srgbClr val="FF0000"/>
                </a:solidFill>
              </a:rPr>
              <a:t>systemStorage.onChange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48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AF08-23FC-A4EE-3B7D-7CAB219C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3E61E-CA99-9119-B366-C9A93030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 err="1"/>
              <a:t>ubus</a:t>
            </a:r>
            <a:r>
              <a:rPr lang="zh-CN" altLang="en-US" dirty="0"/>
              <a:t>的交互机制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C1E14-2C7D-E0F8-D99B-01022174A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281" y="1339599"/>
            <a:ext cx="8613059" cy="214383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JS APP</a:t>
            </a:r>
            <a:r>
              <a:rPr lang="zh-CN" altLang="en-US" sz="2400" dirty="0"/>
              <a:t>需要通过</a:t>
            </a:r>
            <a:r>
              <a:rPr lang="en-US" altLang="zh-CN" sz="2400" dirty="0"/>
              <a:t>C-JS binding</a:t>
            </a:r>
            <a:r>
              <a:rPr lang="zh-CN" altLang="en-US" sz="2400" dirty="0"/>
              <a:t>来完成与</a:t>
            </a:r>
            <a:r>
              <a:rPr lang="en-US" altLang="zh-CN" sz="2400" dirty="0" err="1"/>
              <a:t>ubusd</a:t>
            </a:r>
            <a:r>
              <a:rPr lang="zh-CN" altLang="en-US" sz="2400" dirty="0"/>
              <a:t>的通信接口</a:t>
            </a:r>
            <a:endParaRPr lang="en-US" altLang="zh-CN" sz="2400" dirty="0"/>
          </a:p>
          <a:p>
            <a:r>
              <a:rPr lang="en-US" altLang="zh-CN" sz="2400" dirty="0"/>
              <a:t>JS APP</a:t>
            </a:r>
            <a:r>
              <a:rPr lang="zh-CN" altLang="en-US" sz="2400" dirty="0"/>
              <a:t>既可以充当</a:t>
            </a:r>
            <a:r>
              <a:rPr lang="en-US" altLang="zh-CN" sz="2400" dirty="0" err="1"/>
              <a:t>ubus</a:t>
            </a:r>
            <a:r>
              <a:rPr lang="zh-CN" altLang="en-US" sz="2400" dirty="0"/>
              <a:t> </a:t>
            </a:r>
            <a:r>
              <a:rPr lang="en-US" altLang="zh-CN" sz="2400" dirty="0"/>
              <a:t>server</a:t>
            </a:r>
            <a:r>
              <a:rPr lang="zh-CN" altLang="en-US" sz="2400" dirty="0"/>
              <a:t>对象，也可充当</a:t>
            </a:r>
            <a:r>
              <a:rPr lang="en-US" altLang="zh-CN" sz="2400" dirty="0" err="1"/>
              <a:t>ubus</a:t>
            </a:r>
            <a:r>
              <a:rPr lang="zh-CN" altLang="en-US" sz="2400" dirty="0"/>
              <a:t> </a:t>
            </a:r>
            <a:r>
              <a:rPr lang="en-US" altLang="zh-CN" sz="2400" dirty="0"/>
              <a:t>client</a:t>
            </a:r>
            <a:r>
              <a:rPr lang="zh-CN" altLang="en-US" sz="2400" dirty="0"/>
              <a:t>对象</a:t>
            </a:r>
            <a:endParaRPr lang="en-US" altLang="zh-CN" sz="2400" dirty="0"/>
          </a:p>
          <a:p>
            <a:r>
              <a:rPr lang="en-US" altLang="zh-CN" sz="2400" dirty="0"/>
              <a:t>JS APP</a:t>
            </a:r>
            <a:r>
              <a:rPr lang="zh-CN" altLang="en-US" sz="2400" dirty="0"/>
              <a:t>作为</a:t>
            </a:r>
            <a:r>
              <a:rPr lang="en-US" altLang="zh-CN" sz="2400" dirty="0" err="1"/>
              <a:t>ubus</a:t>
            </a:r>
            <a:r>
              <a:rPr lang="en-US" altLang="zh-CN" sz="2400" dirty="0"/>
              <a:t> client</a:t>
            </a:r>
            <a:r>
              <a:rPr lang="zh-CN" altLang="en-US" sz="2400" dirty="0"/>
              <a:t>时，可以订阅不同</a:t>
            </a:r>
            <a:r>
              <a:rPr lang="en-US" altLang="zh-CN" sz="2400" dirty="0" err="1"/>
              <a:t>ubus</a:t>
            </a:r>
            <a:r>
              <a:rPr lang="en-US" altLang="zh-CN" sz="2400" dirty="0"/>
              <a:t> server</a:t>
            </a:r>
            <a:r>
              <a:rPr lang="zh-CN" altLang="en-US" sz="2400" dirty="0"/>
              <a:t>对象的</a:t>
            </a:r>
            <a:r>
              <a:rPr lang="en-US" altLang="zh-CN" sz="2400" dirty="0"/>
              <a:t>method</a:t>
            </a:r>
            <a:r>
              <a:rPr lang="zh-CN" altLang="en-US" sz="2400" dirty="0"/>
              <a:t>，也可订阅同一</a:t>
            </a:r>
            <a:r>
              <a:rPr lang="en-US" altLang="zh-CN" sz="2400" dirty="0" err="1"/>
              <a:t>ubus</a:t>
            </a:r>
            <a:r>
              <a:rPr lang="en-US" altLang="zh-CN" sz="2400" dirty="0"/>
              <a:t> server</a:t>
            </a:r>
            <a:r>
              <a:rPr lang="zh-CN" altLang="en-US" sz="2400" dirty="0"/>
              <a:t>对象的不同</a:t>
            </a:r>
            <a:r>
              <a:rPr lang="en-US" altLang="zh-CN" sz="2400" dirty="0"/>
              <a:t>method</a:t>
            </a:r>
            <a:endParaRPr lang="en-US" altLang="zh-CN" sz="2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1A15BA6-7824-00CC-4A68-E753AA2E0150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B74113D1-5FBE-A7C9-69F1-97BD5415FF7E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B72736DA-4C56-505D-DEF3-1C6DE15C1DF5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8CFDE1AC-14B1-BF94-089F-420EAA4E269A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335566C3-A0D6-EE78-6954-268C5668D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A5AADFB-882E-FB2A-2502-22E25A9E0264}"/>
              </a:ext>
            </a:extLst>
          </p:cNvPr>
          <p:cNvGrpSpPr/>
          <p:nvPr/>
        </p:nvGrpSpPr>
        <p:grpSpPr>
          <a:xfrm>
            <a:off x="2045112" y="3852682"/>
            <a:ext cx="7111352" cy="1059561"/>
            <a:chOff x="2045112" y="3852682"/>
            <a:chExt cx="7111352" cy="1059561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5C68BAF-0D6E-66E6-5590-553BA22ED6A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778270" y="3873907"/>
              <a:ext cx="1406014" cy="1038336"/>
            </a:xfrm>
            <a:prstGeom prst="ellipse">
              <a:avLst/>
            </a:prstGeom>
            <a:solidFill>
              <a:srgbClr val="00B0F0"/>
            </a:solidFill>
            <a:ln>
              <a:gradFill>
                <a:gsLst>
                  <a:gs pos="37000">
                    <a:srgbClr val="FFFFFF"/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rgbClr val="FFFFFF"/>
                  </a:gs>
                  <a:gs pos="71000">
                    <a:schemeClr val="accent1">
                      <a:lumMod val="30000"/>
                      <a:lumOff val="70000"/>
                    </a:schemeClr>
                  </a:gs>
                </a:gsLst>
                <a:lin ang="15780000" scaled="0"/>
              </a:gradFill>
            </a:ln>
            <a:effectLst>
              <a:outerShdw blurRad="342900" sx="106000" sy="106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b="1" i="1" dirty="0">
                  <a:solidFill>
                    <a:schemeClr val="bg1"/>
                  </a:solidFill>
                  <a:sym typeface="+mn-ea"/>
                </a:rPr>
                <a:t>C-JS binding for </a:t>
              </a:r>
              <a:r>
                <a:rPr lang="en-US" altLang="zh-CN" b="1" i="1" dirty="0" err="1">
                  <a:solidFill>
                    <a:schemeClr val="bg1"/>
                  </a:solidFill>
                  <a:sym typeface="+mn-ea"/>
                </a:rPr>
                <a:t>ubus</a:t>
              </a:r>
              <a:endParaRPr lang="zh-CN" altLang="en-US" b="1" i="1" dirty="0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69EE53A-525B-0667-5D0D-A2D98FAB54C0}"/>
                </a:ext>
              </a:extLst>
            </p:cNvPr>
            <p:cNvSpPr/>
            <p:nvPr/>
          </p:nvSpPr>
          <p:spPr>
            <a:xfrm>
              <a:off x="2045112" y="3873907"/>
              <a:ext cx="1076630" cy="103833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JS  APP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43C2129-593A-E497-677A-8D4E4EC02922}"/>
                </a:ext>
              </a:extLst>
            </p:cNvPr>
            <p:cNvSpPr/>
            <p:nvPr/>
          </p:nvSpPr>
          <p:spPr>
            <a:xfrm>
              <a:off x="7806813" y="3852682"/>
              <a:ext cx="1349651" cy="1038336"/>
            </a:xfrm>
            <a:prstGeom prst="roundRect">
              <a:avLst/>
            </a:prstGeom>
            <a:solidFill>
              <a:srgbClr val="92D050">
                <a:alpha val="98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Native Service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812FC61-327B-2D99-90CB-22E0E1CC3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742" y="4638881"/>
              <a:ext cx="742337" cy="0"/>
            </a:xfrm>
            <a:prstGeom prst="straightConnector1">
              <a:avLst/>
            </a:prstGeom>
            <a:ln w="25400">
              <a:prstDash val="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78ADCE9-B0DE-0A8D-073A-6D0B25FDA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7859" y="4194874"/>
              <a:ext cx="742337" cy="0"/>
            </a:xfrm>
            <a:prstGeom prst="straightConnector1">
              <a:avLst/>
            </a:prstGeom>
            <a:ln w="25400">
              <a:prstDash val="dash"/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B0E78DC-2681-DE7B-3018-458AE40EB57B}"/>
                </a:ext>
              </a:extLst>
            </p:cNvPr>
            <p:cNvSpPr txBox="1"/>
            <p:nvPr/>
          </p:nvSpPr>
          <p:spPr>
            <a:xfrm>
              <a:off x="6118517" y="3888985"/>
              <a:ext cx="6286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</a:rPr>
                <a:t>send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F0377F6-D0D7-AF6C-BEFF-A01FC57702BF}"/>
                </a:ext>
              </a:extLst>
            </p:cNvPr>
            <p:cNvSpPr/>
            <p:nvPr/>
          </p:nvSpPr>
          <p:spPr>
            <a:xfrm>
              <a:off x="5850196" y="3872346"/>
              <a:ext cx="1076630" cy="103833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tx1"/>
                  </a:solidFill>
                </a:rPr>
                <a:t>ubusd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C38644D-C783-84EC-A53B-53FD180C63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7859" y="4651686"/>
              <a:ext cx="742337" cy="0"/>
            </a:xfrm>
            <a:prstGeom prst="straightConnector1">
              <a:avLst/>
            </a:prstGeom>
            <a:ln w="25400">
              <a:prstDash val="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5F2718C-60EB-6AAD-F971-B51BEF1F05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6826" y="4651686"/>
              <a:ext cx="879987" cy="0"/>
            </a:xfrm>
            <a:prstGeom prst="straightConnector1">
              <a:avLst/>
            </a:prstGeom>
            <a:ln w="25400">
              <a:prstDash val="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C363E95-E642-86D7-94B9-44DB4FCCA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742" y="4238788"/>
              <a:ext cx="742337" cy="0"/>
            </a:xfrm>
            <a:prstGeom prst="straightConnector1">
              <a:avLst/>
            </a:prstGeom>
            <a:ln w="25400">
              <a:prstDash val="dash"/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C0E12EB-FEB6-7FF0-5940-E562E02F88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6826" y="4191044"/>
              <a:ext cx="879987" cy="3830"/>
            </a:xfrm>
            <a:prstGeom prst="straightConnector1">
              <a:avLst/>
            </a:prstGeom>
            <a:ln w="25400">
              <a:prstDash val="dash"/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7797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231D-E2B6-0868-8EBF-95831704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EFBCE-9587-2536-AEF1-811C23EF3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15320" cy="7213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JS</a:t>
            </a:r>
            <a:r>
              <a:rPr lang="zh-CN" altLang="en-US" dirty="0"/>
              <a:t>与</a:t>
            </a:r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/>
              <a:t>C-JS</a:t>
            </a:r>
            <a:r>
              <a:rPr lang="zh-CN" altLang="en-US" dirty="0"/>
              <a:t>绑定的交互机制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1AFBC-373A-8A9C-E628-F83D12A78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2" y="1198510"/>
            <a:ext cx="9488131" cy="1837449"/>
          </a:xfrm>
        </p:spPr>
        <p:txBody>
          <a:bodyPr>
            <a:normAutofit fontScale="92500"/>
          </a:bodyPr>
          <a:lstStyle/>
          <a:p>
            <a:r>
              <a:rPr lang="en-US" altLang="zh-CN" sz="2400" dirty="0"/>
              <a:t>JS APP</a:t>
            </a:r>
            <a:r>
              <a:rPr lang="zh-CN" altLang="en-US" sz="2400" dirty="0"/>
              <a:t>需要通过</a:t>
            </a:r>
            <a:r>
              <a:rPr lang="en-US" altLang="zh-CN" sz="2400" dirty="0"/>
              <a:t>C-JS binding</a:t>
            </a:r>
            <a:r>
              <a:rPr lang="zh-CN" altLang="en-US" sz="2400" dirty="0"/>
              <a:t>来实现与</a:t>
            </a:r>
            <a:r>
              <a:rPr lang="en-US" altLang="zh-CN" sz="2400" dirty="0"/>
              <a:t>Native Service</a:t>
            </a:r>
            <a:r>
              <a:rPr lang="zh-CN" altLang="en-US" sz="2400" dirty="0"/>
              <a:t>之间的直接通信接口：</a:t>
            </a:r>
            <a:endParaRPr lang="en-US" altLang="zh-CN" sz="2400" dirty="0"/>
          </a:p>
          <a:p>
            <a:pPr lvl="1"/>
            <a:r>
              <a:rPr lang="zh-CN" altLang="en-US" sz="2000" dirty="0"/>
              <a:t>通过</a:t>
            </a:r>
            <a:r>
              <a:rPr lang="en-US" altLang="zh-CN" sz="2000" dirty="0"/>
              <a:t>Shared memory</a:t>
            </a:r>
            <a:r>
              <a:rPr lang="zh-CN" altLang="en-US" sz="2000" dirty="0"/>
              <a:t>直接交互数据</a:t>
            </a:r>
            <a:endParaRPr lang="en-US" altLang="zh-CN" sz="2000" dirty="0"/>
          </a:p>
          <a:p>
            <a:pPr lvl="1"/>
            <a:r>
              <a:rPr lang="zh-CN" altLang="en-US" sz="2000" dirty="0"/>
              <a:t>通过</a:t>
            </a:r>
            <a:r>
              <a:rPr lang="en-US" altLang="zh-CN" sz="2000" dirty="0"/>
              <a:t>Semaphore</a:t>
            </a:r>
            <a:r>
              <a:rPr lang="zh-CN" altLang="en-US" sz="2000" dirty="0"/>
              <a:t>进行同步和共享资源互斥访问</a:t>
            </a:r>
            <a:endParaRPr lang="en-US" altLang="zh-CN" sz="2000" dirty="0"/>
          </a:p>
          <a:p>
            <a:pPr lvl="1"/>
            <a:r>
              <a:rPr lang="zh-CN" altLang="en-US" sz="2000" dirty="0"/>
              <a:t>通过</a:t>
            </a:r>
            <a:r>
              <a:rPr lang="en-US" altLang="zh-CN" sz="2000" dirty="0"/>
              <a:t>Message Queue</a:t>
            </a:r>
            <a:r>
              <a:rPr lang="zh-CN" altLang="en-US" sz="2000" dirty="0"/>
              <a:t>直接发送消息</a:t>
            </a:r>
            <a:endParaRPr lang="en-US" altLang="zh-CN" sz="2000" dirty="0"/>
          </a:p>
          <a:p>
            <a:r>
              <a:rPr lang="zh-CN" altLang="en-US" sz="2400" dirty="0"/>
              <a:t>适用于时间敏感性较强的信息交互，比如</a:t>
            </a:r>
            <a:r>
              <a:rPr lang="en-US" altLang="zh-CN" sz="2400" dirty="0"/>
              <a:t>TBOX</a:t>
            </a:r>
            <a:r>
              <a:rPr lang="zh-CN" altLang="en-US" sz="2400" dirty="0"/>
              <a:t>的消息上报</a:t>
            </a:r>
            <a:endParaRPr lang="en-US" altLang="zh-CN" sz="24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73D36EF-5F68-5769-3CFB-AFC1F7935CC9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E0528572-6776-C2A1-423A-5CC156EAC779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A11E5996-F06E-8644-9F29-FF2CD30F9F12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71658BCA-1206-0A60-8513-00717A4CDBD3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93135201-CEC0-61FC-93EB-E4AA4D6A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0185B266-A73F-F893-CC36-FD587D6D472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78270" y="3873907"/>
            <a:ext cx="1406014" cy="1038336"/>
          </a:xfrm>
          <a:prstGeom prst="ellipse">
            <a:avLst/>
          </a:prstGeom>
          <a:solidFill>
            <a:srgbClr val="00B0F0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578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b="1" i="1" dirty="0">
                <a:solidFill>
                  <a:schemeClr val="bg1"/>
                </a:solidFill>
                <a:sym typeface="+mn-ea"/>
              </a:rPr>
              <a:t>C-JS binding</a:t>
            </a:r>
            <a:endParaRPr lang="zh-CN" altLang="en-US" b="1" i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534B3D-3B71-C4DF-AF21-DBB7C9EDFD4F}"/>
              </a:ext>
            </a:extLst>
          </p:cNvPr>
          <p:cNvSpPr/>
          <p:nvPr/>
        </p:nvSpPr>
        <p:spPr>
          <a:xfrm>
            <a:off x="2045112" y="3873907"/>
            <a:ext cx="1076630" cy="10383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JS  APP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85DC60-B6B6-D933-7BFD-FB26DAA9BA2D}"/>
              </a:ext>
            </a:extLst>
          </p:cNvPr>
          <p:cNvSpPr/>
          <p:nvPr/>
        </p:nvSpPr>
        <p:spPr>
          <a:xfrm>
            <a:off x="7806813" y="3852682"/>
            <a:ext cx="1349651" cy="1038336"/>
          </a:xfrm>
          <a:prstGeom prst="roundRect">
            <a:avLst/>
          </a:prstGeom>
          <a:solidFill>
            <a:srgbClr val="92D050">
              <a:alpha val="9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Native Service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A9FF394-99A1-3EBF-F9A6-267FB0AB6AFC}"/>
              </a:ext>
            </a:extLst>
          </p:cNvPr>
          <p:cNvCxnSpPr>
            <a:cxnSpLocks/>
          </p:cNvCxnSpPr>
          <p:nvPr/>
        </p:nvCxnSpPr>
        <p:spPr>
          <a:xfrm flipH="1">
            <a:off x="3121742" y="4638881"/>
            <a:ext cx="742337" cy="0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C2565E3-D25D-68A7-ED10-369758043DF7}"/>
              </a:ext>
            </a:extLst>
          </p:cNvPr>
          <p:cNvCxnSpPr>
            <a:cxnSpLocks/>
          </p:cNvCxnSpPr>
          <p:nvPr/>
        </p:nvCxnSpPr>
        <p:spPr>
          <a:xfrm flipH="1">
            <a:off x="5000821" y="3630550"/>
            <a:ext cx="614515" cy="468448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3B34577-349D-6798-2899-DE5E2233E509}"/>
              </a:ext>
            </a:extLst>
          </p:cNvPr>
          <p:cNvCxnSpPr>
            <a:cxnSpLocks/>
          </p:cNvCxnSpPr>
          <p:nvPr/>
        </p:nvCxnSpPr>
        <p:spPr>
          <a:xfrm flipH="1" flipV="1">
            <a:off x="4797361" y="4845077"/>
            <a:ext cx="507477" cy="500776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0C62423-66C9-76C1-0B5A-404C955658AF}"/>
              </a:ext>
            </a:extLst>
          </p:cNvPr>
          <p:cNvCxnSpPr>
            <a:cxnSpLocks/>
          </p:cNvCxnSpPr>
          <p:nvPr/>
        </p:nvCxnSpPr>
        <p:spPr>
          <a:xfrm flipH="1">
            <a:off x="7140901" y="4651686"/>
            <a:ext cx="665912" cy="500776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D5DECC4-1A74-1E0D-897B-EFA279191BCD}"/>
              </a:ext>
            </a:extLst>
          </p:cNvPr>
          <p:cNvCxnSpPr>
            <a:cxnSpLocks/>
          </p:cNvCxnSpPr>
          <p:nvPr/>
        </p:nvCxnSpPr>
        <p:spPr>
          <a:xfrm flipH="1">
            <a:off x="3121742" y="4238788"/>
            <a:ext cx="742337" cy="0"/>
          </a:xfrm>
          <a:prstGeom prst="straightConnector1">
            <a:avLst/>
          </a:prstGeom>
          <a:ln w="25400">
            <a:prstDash val="dash"/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9084C04-3638-3E56-6B8E-786FAD9B9347}"/>
              </a:ext>
            </a:extLst>
          </p:cNvPr>
          <p:cNvCxnSpPr>
            <a:cxnSpLocks/>
          </p:cNvCxnSpPr>
          <p:nvPr/>
        </p:nvCxnSpPr>
        <p:spPr>
          <a:xfrm flipH="1" flipV="1">
            <a:off x="7007718" y="3743275"/>
            <a:ext cx="799095" cy="451599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云形 9">
            <a:extLst>
              <a:ext uri="{FF2B5EF4-FFF2-40B4-BE49-F238E27FC236}">
                <a16:creationId xmlns:a16="http://schemas.microsoft.com/office/drawing/2014/main" id="{E8C8C760-2580-20E0-057F-2C603E5D407C}"/>
              </a:ext>
            </a:extLst>
          </p:cNvPr>
          <p:cNvSpPr/>
          <p:nvPr/>
        </p:nvSpPr>
        <p:spPr>
          <a:xfrm>
            <a:off x="5641034" y="3151773"/>
            <a:ext cx="1499867" cy="79229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shared memory</a:t>
            </a:r>
            <a:endParaRPr lang="zh-CN" altLang="en-US" dirty="0"/>
          </a:p>
        </p:txBody>
      </p: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BE727956-F7C9-5590-5D63-AFD6CF5113EA}"/>
              </a:ext>
            </a:extLst>
          </p:cNvPr>
          <p:cNvSpPr/>
          <p:nvPr/>
        </p:nvSpPr>
        <p:spPr>
          <a:xfrm>
            <a:off x="5308078" y="5152462"/>
            <a:ext cx="2005780" cy="65301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Message Queue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B24486-9C78-F196-85A5-8B638FCB65BC}"/>
              </a:ext>
            </a:extLst>
          </p:cNvPr>
          <p:cNvSpPr/>
          <p:nvPr/>
        </p:nvSpPr>
        <p:spPr>
          <a:xfrm>
            <a:off x="5758756" y="4256085"/>
            <a:ext cx="1309625" cy="500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Semaphore</a:t>
            </a:r>
          </a:p>
          <a:p>
            <a:pPr algn="ctr"/>
            <a:r>
              <a:rPr lang="en-US" altLang="zh-CN" dirty="0"/>
              <a:t>P/V</a:t>
            </a:r>
            <a:r>
              <a:rPr lang="zh-CN" altLang="en-US" dirty="0"/>
              <a:t>操作</a:t>
            </a:r>
            <a:r>
              <a:rPr lang="en-US" altLang="zh-CN" dirty="0"/>
              <a:t> 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47F8104-B19A-663C-6F38-FCC5EDBA236F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184284" y="4506472"/>
            <a:ext cx="574472" cy="1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BA94338-723E-20F6-F385-805233BA7D0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068381" y="4502259"/>
            <a:ext cx="738432" cy="4214"/>
          </a:xfrm>
          <a:prstGeom prst="straightConnector1">
            <a:avLst/>
          </a:prstGeom>
          <a:ln w="25400">
            <a:prstDash val="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30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7A7A-A465-0D08-4143-FF27695B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79275-9346-99AE-AE28-B20D86A3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>
            <a:normAutofit/>
          </a:bodyPr>
          <a:lstStyle/>
          <a:p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 err="1"/>
              <a:t>ubus</a:t>
            </a:r>
            <a:r>
              <a:rPr lang="zh-CN" altLang="en-US" dirty="0"/>
              <a:t>的交互机制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355B6-BBE0-B433-3691-782219FD9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863" y="1247553"/>
            <a:ext cx="8691718" cy="214383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Native Service</a:t>
            </a:r>
            <a:r>
              <a:rPr lang="zh-CN" altLang="en-US" sz="2400" dirty="0"/>
              <a:t>之间直接通过</a:t>
            </a:r>
            <a:r>
              <a:rPr lang="en-US" altLang="zh-CN" sz="2400" dirty="0" err="1"/>
              <a:t>ubusd</a:t>
            </a:r>
            <a:r>
              <a:rPr lang="zh-CN" altLang="en-US" sz="2400" dirty="0"/>
              <a:t>进行</a:t>
            </a:r>
            <a:r>
              <a:rPr lang="en-US" altLang="zh-CN" sz="2400" dirty="0"/>
              <a:t>IPC</a:t>
            </a:r>
            <a:r>
              <a:rPr lang="zh-CN" altLang="en-US" sz="2400" dirty="0"/>
              <a:t>通信交互</a:t>
            </a:r>
            <a:endParaRPr lang="en-US" altLang="zh-CN" sz="2400" dirty="0"/>
          </a:p>
          <a:p>
            <a:r>
              <a:rPr lang="en-US" altLang="zh-CN" sz="2400" dirty="0"/>
              <a:t>Native Service</a:t>
            </a:r>
            <a:r>
              <a:rPr lang="zh-CN" altLang="en-US" sz="2400" dirty="0"/>
              <a:t>既可以充当</a:t>
            </a:r>
            <a:r>
              <a:rPr lang="en-US" altLang="zh-CN" sz="2400" dirty="0" err="1"/>
              <a:t>ubus</a:t>
            </a:r>
            <a:r>
              <a:rPr lang="zh-CN" altLang="en-US" sz="2400" dirty="0"/>
              <a:t> </a:t>
            </a:r>
            <a:r>
              <a:rPr lang="en-US" altLang="zh-CN" sz="2400" dirty="0"/>
              <a:t>server</a:t>
            </a:r>
            <a:r>
              <a:rPr lang="zh-CN" altLang="en-US" sz="2400" dirty="0"/>
              <a:t>对象，也可充当</a:t>
            </a:r>
            <a:r>
              <a:rPr lang="en-US" altLang="zh-CN" sz="2400" dirty="0" err="1"/>
              <a:t>ubus</a:t>
            </a:r>
            <a:r>
              <a:rPr lang="zh-CN" altLang="en-US" sz="2400" dirty="0"/>
              <a:t> </a:t>
            </a:r>
            <a:r>
              <a:rPr lang="en-US" altLang="zh-CN" sz="2400" dirty="0"/>
              <a:t>client</a:t>
            </a:r>
            <a:r>
              <a:rPr lang="zh-CN" altLang="en-US" sz="2400" dirty="0"/>
              <a:t>对象</a:t>
            </a:r>
            <a:endParaRPr lang="en-US" altLang="zh-CN" sz="2400" dirty="0"/>
          </a:p>
          <a:p>
            <a:r>
              <a:rPr lang="zh-CN" altLang="en-US" sz="2400" dirty="0"/>
              <a:t>支持</a:t>
            </a:r>
            <a:r>
              <a:rPr lang="en-US" altLang="zh-CN" sz="2400" dirty="0"/>
              <a:t>3</a:t>
            </a:r>
            <a:r>
              <a:rPr lang="zh-CN" altLang="en-US" sz="2400" dirty="0"/>
              <a:t>种通信模型</a:t>
            </a:r>
            <a:endParaRPr lang="en-US" altLang="zh-CN" sz="2400" dirty="0"/>
          </a:p>
          <a:p>
            <a:pPr lvl="1"/>
            <a:r>
              <a:rPr lang="en-US" altLang="zh-CN" sz="2000" dirty="0"/>
              <a:t>One-to-One</a:t>
            </a:r>
          </a:p>
          <a:p>
            <a:pPr lvl="1"/>
            <a:r>
              <a:rPr lang="en-US" altLang="zh-CN" sz="2000" dirty="0"/>
              <a:t>One-to-many(group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object)</a:t>
            </a:r>
          </a:p>
          <a:p>
            <a:pPr lvl="1"/>
            <a:r>
              <a:rPr lang="en-US" altLang="zh-CN" sz="2000" dirty="0"/>
              <a:t>One-to-many(group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event)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500EFA1-6D72-2FF0-7614-22329E2708A8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9ADD1329-FB43-71AD-B42F-E11D3F73D75A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CAF46BA5-A19A-2E41-2BCC-2C0421F63687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ACBEA281-704B-50C3-5FC9-E3D85629B2B1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04A1E91E-44B2-8479-9597-9940BDDA4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F3C04E2C-481B-08C9-0E17-0CD2B4147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22" y="3429000"/>
            <a:ext cx="10515600" cy="22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25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57DC-7034-6FD5-C31A-1F90A6BA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10774-EFAB-7235-97D2-8F6180FA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>
            <a:normAutofit/>
          </a:bodyPr>
          <a:lstStyle/>
          <a:p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 err="1"/>
              <a:t>ubus</a:t>
            </a:r>
            <a:r>
              <a:rPr lang="zh-CN" altLang="en-US" dirty="0"/>
              <a:t>的交互机制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E1320C-2757-85AC-47CC-5B905A005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863" y="1247553"/>
            <a:ext cx="8613059" cy="72134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one-to-one</a:t>
            </a:r>
          </a:p>
          <a:p>
            <a:pPr lvl="1"/>
            <a:r>
              <a:rPr lang="en-US" altLang="zh-CN" sz="1600" dirty="0"/>
              <a:t>Post data or requests to specific object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E62A36-6AAF-3B25-99A7-1E2FFAE2E8F7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03F34D73-C72E-09A1-9A63-B278968CE77A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54730F2E-5115-A3EC-7AA9-7CD8E67DE4F9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72F2536A-3564-2140-3FB9-1C0EE122622E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ADAD09EC-95FF-4EF0-9718-EBC231DE7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DAE8D29-EC0D-8042-8040-701A905E87C3}"/>
              </a:ext>
            </a:extLst>
          </p:cNvPr>
          <p:cNvSpPr txBox="1">
            <a:spLocks/>
          </p:cNvSpPr>
          <p:nvPr/>
        </p:nvSpPr>
        <p:spPr>
          <a:xfrm>
            <a:off x="1342101" y="3022253"/>
            <a:ext cx="8613059" cy="72134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r>
              <a:rPr lang="en-US" altLang="zh-CN" sz="2000" dirty="0"/>
              <a:t>one-to-many(group by object)</a:t>
            </a:r>
          </a:p>
          <a:p>
            <a:pPr lvl="1"/>
            <a:r>
              <a:rPr lang="en-US" altLang="zh-CN" sz="1600" dirty="0"/>
              <a:t>Post data to multiple subscribers that subscribed to this object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FE2A8C-0375-7DA4-6896-307181638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40" y="1939397"/>
            <a:ext cx="7220482" cy="9906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2935EE-7948-F92B-B468-CB3EFB5D8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40" y="3649120"/>
            <a:ext cx="7161488" cy="26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34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D0E3-B2DE-F8B0-9255-51181888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7EF43-E48D-39D2-CED0-279D380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1340"/>
          </a:xfrm>
        </p:spPr>
        <p:txBody>
          <a:bodyPr>
            <a:normAutofit/>
          </a:bodyPr>
          <a:lstStyle/>
          <a:p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 err="1"/>
              <a:t>ubus</a:t>
            </a:r>
            <a:r>
              <a:rPr lang="zh-CN" altLang="en-US" dirty="0"/>
              <a:t>的交互机制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73703E3-3A32-AB14-1AC4-92AF8F31685D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ABE875C7-D94C-4BBA-B5CC-F8251188DF7F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4E80D5CE-788D-61DE-BA2C-9022CA3E86EB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940F9BC7-48B4-C0C9-0F2C-57749D1F63F7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9FEB7990-56BE-69A4-7585-6D729FFFE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DFC1158-B8F2-658B-03F9-808AAD39520C}"/>
              </a:ext>
            </a:extLst>
          </p:cNvPr>
          <p:cNvSpPr txBox="1">
            <a:spLocks/>
          </p:cNvSpPr>
          <p:nvPr/>
        </p:nvSpPr>
        <p:spPr>
          <a:xfrm>
            <a:off x="1332268" y="1406014"/>
            <a:ext cx="8613059" cy="79391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r>
              <a:rPr lang="en-US" altLang="zh-CN" sz="2000" dirty="0"/>
              <a:t>one-to-many(group by event)</a:t>
            </a:r>
          </a:p>
          <a:p>
            <a:pPr lvl="1"/>
            <a:r>
              <a:rPr lang="en-US" altLang="zh-CN" sz="1600" dirty="0"/>
              <a:t>Post data to multiple listeners of same event pattern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419B4F6-A248-EC1D-FE10-B82884B23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25" y="2054942"/>
            <a:ext cx="8058150" cy="37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64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3FDCC-DD96-B084-BDBE-1D06AF195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166F9-9994-BB1A-B780-DE0F9EDF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45"/>
            <a:ext cx="10515600" cy="91306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Native Service</a:t>
            </a:r>
            <a:r>
              <a:rPr lang="zh-CN" altLang="en-US" dirty="0"/>
              <a:t>之间基于</a:t>
            </a:r>
            <a:r>
              <a:rPr lang="en-US" altLang="zh-CN" dirty="0"/>
              <a:t>Linux IPC</a:t>
            </a:r>
            <a:r>
              <a:rPr lang="zh-CN" altLang="en-US" dirty="0"/>
              <a:t>的交互机制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3CB8C2B-5C10-39D6-B659-8F629F5C63AD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6E4D504E-E276-EB56-11CF-05DA2E264EE4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4AA6C8DD-C836-9850-E569-C426AA22ACB2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06E329DF-A285-5C68-FC2B-BF6E7DC34613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DA38D73F-56DD-E7BA-48BD-8C70D8060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6A8ABFC-4931-F2EE-1ABC-4C649AD398CC}"/>
              </a:ext>
            </a:extLst>
          </p:cNvPr>
          <p:cNvSpPr txBox="1">
            <a:spLocks/>
          </p:cNvSpPr>
          <p:nvPr/>
        </p:nvSpPr>
        <p:spPr>
          <a:xfrm>
            <a:off x="1332268" y="1478588"/>
            <a:ext cx="8613059" cy="1443139"/>
          </a:xfrm>
          <a:prstGeom prst="rect">
            <a:avLst/>
          </a:prstGeom>
        </p:spPr>
        <p:txBody>
          <a:bodyPr vert="horz" lIns="91440" tIns="45720" rIns="91440" bIns="45720">
            <a:normAutofit fontScale="77500" lnSpcReduction="20000"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r>
              <a:rPr lang="en-US" altLang="zh-CN" sz="2000" dirty="0"/>
              <a:t>Native Service</a:t>
            </a:r>
            <a:r>
              <a:rPr lang="zh-CN" altLang="en-US" sz="2000" dirty="0"/>
              <a:t>之间可以通过</a:t>
            </a:r>
            <a:r>
              <a:rPr lang="en-US" altLang="zh-CN" sz="2000" dirty="0"/>
              <a:t>Shared Memory</a:t>
            </a:r>
            <a:r>
              <a:rPr lang="zh-CN" altLang="en-US" sz="2000" dirty="0"/>
              <a:t>直接进行数据交互</a:t>
            </a:r>
            <a:endParaRPr lang="en-US" altLang="zh-CN" sz="2000" dirty="0"/>
          </a:p>
          <a:p>
            <a:r>
              <a:rPr lang="en-US" altLang="zh-CN" sz="2000" dirty="0"/>
              <a:t>Native Service</a:t>
            </a:r>
            <a:r>
              <a:rPr lang="zh-CN" altLang="en-US" sz="2000" dirty="0"/>
              <a:t>之间可以通过</a:t>
            </a:r>
            <a:r>
              <a:rPr lang="en-US" altLang="zh-CN" sz="2000" dirty="0"/>
              <a:t>Semaphore</a:t>
            </a:r>
            <a:r>
              <a:rPr lang="zh-CN" altLang="en-US" sz="2000" dirty="0"/>
              <a:t>进行同步和临界区资源互斥访问</a:t>
            </a:r>
            <a:endParaRPr lang="en-US" altLang="zh-CN" sz="2000" dirty="0"/>
          </a:p>
          <a:p>
            <a:r>
              <a:rPr lang="en-US" altLang="zh-CN" sz="2000" dirty="0"/>
              <a:t>Native Service</a:t>
            </a:r>
            <a:r>
              <a:rPr lang="zh-CN" altLang="en-US" sz="2000" dirty="0"/>
              <a:t>之间可以通过</a:t>
            </a:r>
            <a:r>
              <a:rPr lang="en-US" altLang="zh-CN" sz="2000" dirty="0"/>
              <a:t>Message Queue</a:t>
            </a:r>
            <a:r>
              <a:rPr lang="zh-CN" altLang="en-US" sz="2000" dirty="0"/>
              <a:t>直接进行消息交互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/>
              <a:t>适用于性能要求高和时间敏感性性强的场合，比如</a:t>
            </a:r>
            <a:r>
              <a:rPr lang="en-US" altLang="zh-CN" sz="2000" dirty="0"/>
              <a:t>ADAS</a:t>
            </a:r>
            <a:r>
              <a:rPr lang="zh-CN" altLang="en-US" sz="2000" dirty="0"/>
              <a:t>需要实时从</a:t>
            </a:r>
            <a:r>
              <a:rPr lang="en-US" altLang="zh-CN" sz="2000" dirty="0"/>
              <a:t>TBOX</a:t>
            </a:r>
            <a:r>
              <a:rPr lang="zh-CN" altLang="en-US" sz="2000" dirty="0"/>
              <a:t>中获取当前</a:t>
            </a:r>
            <a:r>
              <a:rPr lang="en-US" altLang="zh-CN" sz="2000" dirty="0" err="1"/>
              <a:t>motocycle</a:t>
            </a:r>
            <a:r>
              <a:rPr lang="zh-CN" altLang="en-US" sz="2000" dirty="0"/>
              <a:t>的速度信息</a:t>
            </a:r>
            <a:endParaRPr lang="en-US" altLang="zh-CN" sz="20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8EDD3CD-0556-8887-AF75-1B1E70C9CB91}"/>
              </a:ext>
            </a:extLst>
          </p:cNvPr>
          <p:cNvGrpSpPr/>
          <p:nvPr/>
        </p:nvGrpSpPr>
        <p:grpSpPr>
          <a:xfrm>
            <a:off x="3035536" y="3217279"/>
            <a:ext cx="6120928" cy="2700310"/>
            <a:chOff x="3035536" y="3379551"/>
            <a:chExt cx="6120928" cy="2700310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F203699-FF6A-36C1-4859-2CE7CCF5D169}"/>
                </a:ext>
              </a:extLst>
            </p:cNvPr>
            <p:cNvSpPr/>
            <p:nvPr/>
          </p:nvSpPr>
          <p:spPr>
            <a:xfrm>
              <a:off x="3035536" y="4288114"/>
              <a:ext cx="1383841" cy="103833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Native Service 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5661DB7-0556-D134-81FD-B00F92C0F5BF}"/>
                </a:ext>
              </a:extLst>
            </p:cNvPr>
            <p:cNvSpPr/>
            <p:nvPr/>
          </p:nvSpPr>
          <p:spPr>
            <a:xfrm>
              <a:off x="7806813" y="4288114"/>
              <a:ext cx="1349651" cy="1038336"/>
            </a:xfrm>
            <a:prstGeom prst="roundRect">
              <a:avLst/>
            </a:prstGeom>
            <a:solidFill>
              <a:srgbClr val="92D050">
                <a:alpha val="98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Native Service 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20268C0-AA67-8D21-D78C-6314FE00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0825" y="4021171"/>
              <a:ext cx="834847" cy="453896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B7AFBAA-7F41-2C3D-A36C-4D1891711D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9377" y="5176463"/>
              <a:ext cx="715744" cy="411431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1BFA3B0D-F113-E035-E171-20D6AEAE68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0901" y="5087118"/>
              <a:ext cx="665912" cy="500776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630B297-4C42-CF81-AF03-85CDDC6C76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92274" y="3949341"/>
              <a:ext cx="976801" cy="476602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云形 18">
              <a:extLst>
                <a:ext uri="{FF2B5EF4-FFF2-40B4-BE49-F238E27FC236}">
                  <a16:creationId xmlns:a16="http://schemas.microsoft.com/office/drawing/2014/main" id="{B7FC47AA-F4A3-2F72-9B95-2B7F057E5855}"/>
                </a:ext>
              </a:extLst>
            </p:cNvPr>
            <p:cNvSpPr/>
            <p:nvPr/>
          </p:nvSpPr>
          <p:spPr>
            <a:xfrm>
              <a:off x="5222378" y="3379551"/>
              <a:ext cx="1607633" cy="792298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Shared Memory</a:t>
              </a:r>
              <a:endParaRPr lang="zh-CN" altLang="en-US" dirty="0"/>
            </a:p>
          </p:txBody>
        </p:sp>
        <p:sp>
          <p:nvSpPr>
            <p:cNvPr id="20" name="流程图: 直接访问存储器 19">
              <a:extLst>
                <a:ext uri="{FF2B5EF4-FFF2-40B4-BE49-F238E27FC236}">
                  <a16:creationId xmlns:a16="http://schemas.microsoft.com/office/drawing/2014/main" id="{FC13DB2A-12EF-8E5E-8B11-9CD4B2E0C1C6}"/>
                </a:ext>
              </a:extLst>
            </p:cNvPr>
            <p:cNvSpPr/>
            <p:nvPr/>
          </p:nvSpPr>
          <p:spPr>
            <a:xfrm>
              <a:off x="5135121" y="5426851"/>
              <a:ext cx="2005780" cy="653010"/>
            </a:xfrm>
            <a:prstGeom prst="flowChartMagneticDru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Message Queue</a:t>
              </a:r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50D621-4B42-2FD3-3B12-A4BFEDDAC531}"/>
                </a:ext>
              </a:extLst>
            </p:cNvPr>
            <p:cNvSpPr/>
            <p:nvPr/>
          </p:nvSpPr>
          <p:spPr>
            <a:xfrm>
              <a:off x="5483198" y="4555854"/>
              <a:ext cx="1309625" cy="5007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Semaphore</a:t>
              </a:r>
            </a:p>
            <a:p>
              <a:pPr algn="ctr"/>
              <a:r>
                <a:rPr lang="en-US" altLang="zh-CN" dirty="0"/>
                <a:t>P/V</a:t>
              </a:r>
              <a:r>
                <a:rPr lang="zh-CN" altLang="en-US" dirty="0"/>
                <a:t>操作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CF0D7FB-3ADE-149B-39F5-29F4E7C57520}"/>
                </a:ext>
              </a:extLst>
            </p:cNvPr>
            <p:cNvCxnSpPr>
              <a:cxnSpLocks/>
              <a:stCxn id="3" idx="1"/>
              <a:endCxn id="10" idx="3"/>
            </p:cNvCxnSpPr>
            <p:nvPr/>
          </p:nvCxnSpPr>
          <p:spPr>
            <a:xfrm flipH="1">
              <a:off x="4419377" y="4806242"/>
              <a:ext cx="1063821" cy="1040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0EEC1B1-ECB7-B5B7-24B2-143672F278E5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6792274" y="4807282"/>
              <a:ext cx="1014539" cy="8655"/>
            </a:xfrm>
            <a:prstGeom prst="straightConnector1">
              <a:avLst/>
            </a:prstGeom>
            <a:ln w="25400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0780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3786-DB94-216A-A16B-C96E9689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F32A6-535D-B37C-86F3-739169FC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295" y="1709739"/>
            <a:ext cx="5927155" cy="2629180"/>
          </a:xfrm>
        </p:spPr>
        <p:txBody>
          <a:bodyPr>
            <a:normAutofit/>
          </a:bodyPr>
          <a:lstStyle/>
          <a:p>
            <a:r>
              <a:rPr lang="en-US" altLang="zh-CN" sz="5400" dirty="0" err="1">
                <a:latin typeface="Segoe UI" panose="020B0502040204020203" pitchFamily="34" charset="0"/>
                <a:ea typeface="等线" panose="02010600030101010101" pitchFamily="2" charset="-122"/>
              </a:rPr>
              <a:t>persim</a:t>
            </a:r>
            <a:r>
              <a:rPr lang="en-US" altLang="zh-CN" sz="5400" dirty="0">
                <a:latin typeface="Segoe UI" panose="020B0502040204020203" pitchFamily="34" charset="0"/>
                <a:ea typeface="等线" panose="02010600030101010101" pitchFamily="2" charset="-122"/>
              </a:rPr>
              <a:t>-studio</a:t>
            </a:r>
            <a:r>
              <a:rPr lang="zh-CN" altLang="en-US" sz="5400" dirty="0">
                <a:latin typeface="Segoe UI" panose="020B0502040204020203" pitchFamily="34" charset="0"/>
                <a:ea typeface="等线" panose="02010600030101010101" pitchFamily="2" charset="-122"/>
              </a:rPr>
              <a:t>简介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B4715BFB-0A12-FE03-DB2B-F8841A781F08}"/>
              </a:ext>
            </a:extLst>
          </p:cNvPr>
          <p:cNvSpPr txBox="1"/>
          <p:nvPr/>
        </p:nvSpPr>
        <p:spPr>
          <a:xfrm>
            <a:off x="1341690" y="1365389"/>
            <a:ext cx="4021998" cy="357867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682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PART</a:t>
            </a:r>
            <a:r>
              <a:rPr lang="en-US" altLang="zh-CN" sz="22655" b="1" dirty="0">
                <a:solidFill>
                  <a:srgbClr val="1F608B">
                    <a:lumMod val="60000"/>
                    <a:lumOff val="40000"/>
                  </a:srgbClr>
                </a:solidFill>
                <a:latin typeface="Segoe UI" panose="020B0502040204020203" pitchFamily="34" charset="0"/>
                <a:ea typeface="等线" panose="02010600030101010101" pitchFamily="2" charset="-122"/>
                <a:sym typeface="Arial" panose="020B0604020202020204" pitchFamily="34" charset="0"/>
              </a:rPr>
              <a:t>3</a:t>
            </a:r>
            <a:endParaRPr lang="zh-CN" altLang="en-US" sz="22655" b="1" dirty="0">
              <a:solidFill>
                <a:srgbClr val="1F608B">
                  <a:lumMod val="60000"/>
                  <a:lumOff val="40000"/>
                </a:srgbClr>
              </a:solidFill>
              <a:latin typeface="Segoe UI" panose="020B0502040204020203" pitchFamily="34" charset="0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grpSp>
        <p:nvGrpSpPr>
          <p:cNvPr id="3" name="组合 30">
            <a:extLst>
              <a:ext uri="{FF2B5EF4-FFF2-40B4-BE49-F238E27FC236}">
                <a16:creationId xmlns:a16="http://schemas.microsoft.com/office/drawing/2014/main" id="{872E68C7-02A4-8668-2C7D-719BF87A3FBA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6306248"/>
            <a:chExt cx="12192635" cy="551815"/>
          </a:xfrm>
        </p:grpSpPr>
        <p:sp>
          <p:nvSpPr>
            <p:cNvPr id="10" name="矩形 10">
              <a:extLst>
                <a:ext uri="{FF2B5EF4-FFF2-40B4-BE49-F238E27FC236}">
                  <a16:creationId xmlns:a16="http://schemas.microsoft.com/office/drawing/2014/main" id="{6D054DE3-64FB-224A-FEB7-2E6E13CF6D59}"/>
                </a:ext>
              </a:extLst>
            </p:cNvPr>
            <p:cNvSpPr/>
            <p:nvPr/>
          </p:nvSpPr>
          <p:spPr>
            <a:xfrm>
              <a:off x="63" y="6306248"/>
              <a:ext cx="12192635" cy="551815"/>
            </a:xfrm>
            <a:prstGeom prst="rect">
              <a:avLst/>
            </a:prstGeom>
            <a:gradFill flip="none"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0800000" scaled="1"/>
              <a:tileRect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1" name="文本框 11">
              <a:extLst>
                <a:ext uri="{FF2B5EF4-FFF2-40B4-BE49-F238E27FC236}">
                  <a16:creationId xmlns:a16="http://schemas.microsoft.com/office/drawing/2014/main" id="{22B419E7-4183-71A7-92B6-F94BF6676776}"/>
                </a:ext>
              </a:extLst>
            </p:cNvPr>
            <p:cNvSpPr txBox="1"/>
            <p:nvPr/>
          </p:nvSpPr>
          <p:spPr>
            <a:xfrm>
              <a:off x="483235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12" name="文本框 12">
              <a:extLst>
                <a:ext uri="{FF2B5EF4-FFF2-40B4-BE49-F238E27FC236}">
                  <a16:creationId xmlns:a16="http://schemas.microsoft.com/office/drawing/2014/main" id="{37AFDD11-A7FD-F91E-7BC2-DDABFA47C63C}"/>
                </a:ext>
              </a:extLst>
            </p:cNvPr>
            <p:cNvSpPr txBox="1"/>
            <p:nvPr/>
          </p:nvSpPr>
          <p:spPr>
            <a:xfrm>
              <a:off x="9050020" y="6454521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 dirty="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13" name="图片 13">
              <a:extLst>
                <a:ext uri="{FF2B5EF4-FFF2-40B4-BE49-F238E27FC236}">
                  <a16:creationId xmlns:a16="http://schemas.microsoft.com/office/drawing/2014/main" id="{CAA54B39-0E63-008B-F700-6EBAA9363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</a:blip>
            <a:stretch>
              <a:fillRect/>
            </a:stretch>
          </p:blipFill>
          <p:spPr>
            <a:xfrm>
              <a:off x="11198225" y="6379591"/>
              <a:ext cx="455295" cy="455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07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9E2C6-5805-AAD0-DEDC-F5324399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E2E00-DDAA-6D03-FE5F-AAE24F6C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45"/>
            <a:ext cx="10515600" cy="913068"/>
          </a:xfrm>
        </p:spPr>
        <p:txBody>
          <a:bodyPr>
            <a:normAutofit/>
          </a:bodyPr>
          <a:lstStyle/>
          <a:p>
            <a:r>
              <a:rPr lang="en-US" altLang="zh-CN" dirty="0"/>
              <a:t>Persim Studio (1) 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7B72437-31D4-271F-71BC-A7062F540A3C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FEC65457-F407-DA46-6ED2-40AC4E20B96C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F8734E75-A7BE-D367-FA2D-E1035BCB9BA5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F31BD9BB-2E7A-4311-27D1-F64A2B40C1BA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2BE8977D-669E-C19F-419D-DCBFB5CE9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9C5747E-41AF-B662-ED5A-F6E2E47DD1D5}"/>
              </a:ext>
            </a:extLst>
          </p:cNvPr>
          <p:cNvSpPr txBox="1">
            <a:spLocks/>
          </p:cNvSpPr>
          <p:nvPr/>
        </p:nvSpPr>
        <p:spPr>
          <a:xfrm>
            <a:off x="1323560" y="1089770"/>
            <a:ext cx="8613059" cy="19504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/>
              <a:t>Persim Studio</a:t>
            </a:r>
            <a:r>
              <a:rPr lang="zh-CN" altLang="en-US" sz="2000" dirty="0"/>
              <a:t>是</a:t>
            </a:r>
            <a:r>
              <a:rPr lang="en-US" altLang="zh-CN" sz="2000" dirty="0"/>
              <a:t>a-cockpit</a:t>
            </a:r>
            <a:r>
              <a:rPr lang="zh-CN" altLang="en-US" sz="2000" dirty="0"/>
              <a:t>项目</a:t>
            </a:r>
            <a:r>
              <a:rPr lang="en-US" altLang="zh-CN" sz="2000" dirty="0"/>
              <a:t>JS APP</a:t>
            </a:r>
            <a:r>
              <a:rPr lang="zh-CN" altLang="en-US" sz="2000" dirty="0"/>
              <a:t>开发工具，目前是以</a:t>
            </a:r>
            <a:r>
              <a:rPr lang="en-US" altLang="zh-CN" sz="2000" dirty="0" err="1"/>
              <a:t>vscode</a:t>
            </a:r>
            <a:r>
              <a:rPr lang="en-US" altLang="zh-CN" sz="2000" dirty="0"/>
              <a:t> plugin</a:t>
            </a:r>
            <a:r>
              <a:rPr lang="zh-CN" altLang="en-US" sz="2000" dirty="0"/>
              <a:t>形式提供，具有如下特点：</a:t>
            </a:r>
            <a:endParaRPr lang="en-US" altLang="zh-CN" sz="2000" dirty="0"/>
          </a:p>
          <a:p>
            <a:pPr lvl="1"/>
            <a:r>
              <a:rPr lang="zh-CN" altLang="en-US" sz="1600" dirty="0"/>
              <a:t>强大的代码编辑，自动补全，智能提示等功能。</a:t>
            </a:r>
            <a:endParaRPr lang="en-US" altLang="zh-CN" sz="1600" dirty="0"/>
          </a:p>
          <a:p>
            <a:pPr lvl="1"/>
            <a:r>
              <a:rPr lang="zh-CN" altLang="en-US" sz="1600" dirty="0"/>
              <a:t>丰富的控件及属性支持，方便快速修改控件属性。</a:t>
            </a:r>
            <a:endParaRPr lang="en-US" altLang="zh-CN" sz="1600" dirty="0"/>
          </a:p>
          <a:p>
            <a:pPr lvl="1"/>
            <a:r>
              <a:rPr lang="zh-CN" altLang="en-US" sz="1600" dirty="0"/>
              <a:t>现代化，美观大方，所见即所得的 </a:t>
            </a:r>
            <a:r>
              <a:rPr lang="en-US" altLang="zh-CN" sz="1600" dirty="0"/>
              <a:t>UI </a:t>
            </a:r>
            <a:r>
              <a:rPr lang="zh-CN" altLang="en-US" sz="1600" dirty="0"/>
              <a:t>设计界面，通过拖拽的方式快速方便的生成运行在嵌入式平台上</a:t>
            </a:r>
            <a:r>
              <a:rPr lang="en-US" altLang="zh-CN" sz="1600" dirty="0"/>
              <a:t>UI</a:t>
            </a:r>
            <a:r>
              <a:rPr lang="zh-CN" altLang="en-US" sz="1600" dirty="0"/>
              <a:t>界面，并可以直接使用 </a:t>
            </a:r>
            <a:r>
              <a:rPr lang="en-US" altLang="zh-CN" sz="1600" dirty="0"/>
              <a:t>studio </a:t>
            </a:r>
            <a:r>
              <a:rPr lang="zh-CN" altLang="en-US" sz="1600" dirty="0"/>
              <a:t>内置的 </a:t>
            </a:r>
            <a:r>
              <a:rPr lang="en-US" altLang="zh-CN" sz="1600" dirty="0"/>
              <a:t>SDK </a:t>
            </a:r>
            <a:r>
              <a:rPr lang="zh-CN" altLang="en-US" sz="1600" dirty="0"/>
              <a:t>进行相关的业务开发。</a:t>
            </a:r>
            <a:endParaRPr lang="en-US" altLang="zh-CN" sz="1600" dirty="0"/>
          </a:p>
          <a:p>
            <a:endParaRPr lang="en-US" altLang="zh-CN" sz="20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F911E8D-63E7-3506-CF87-06AC7A2E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53" y="2915745"/>
            <a:ext cx="8210666" cy="326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86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7322-BEAE-8C9C-0DF0-16403674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40639-CF93-BD61-052C-13B1D84E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45"/>
            <a:ext cx="10515600" cy="913068"/>
          </a:xfrm>
        </p:spPr>
        <p:txBody>
          <a:bodyPr>
            <a:normAutofit/>
          </a:bodyPr>
          <a:lstStyle/>
          <a:p>
            <a:r>
              <a:rPr lang="en-US" altLang="zh-CN" dirty="0"/>
              <a:t>Persim Studio (2) 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4752A92-9856-0D2C-091D-3146CDB42C04}"/>
              </a:ext>
            </a:extLst>
          </p:cNvPr>
          <p:cNvGrpSpPr/>
          <p:nvPr/>
        </p:nvGrpSpPr>
        <p:grpSpPr>
          <a:xfrm>
            <a:off x="63" y="6306248"/>
            <a:ext cx="12192635" cy="551815"/>
            <a:chOff x="63" y="4934967"/>
            <a:chExt cx="12192635" cy="551815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A7E9C541-9BC2-073A-4D93-931F5CB1656B}"/>
                </a:ext>
              </a:extLst>
            </p:cNvPr>
            <p:cNvSpPr/>
            <p:nvPr/>
          </p:nvSpPr>
          <p:spPr>
            <a:xfrm>
              <a:off x="63" y="4934967"/>
              <a:ext cx="12192635" cy="551815"/>
            </a:xfrm>
            <a:prstGeom prst="rect">
              <a:avLst/>
            </a:prstGeom>
            <a:gradFill rotWithShape="1">
              <a:gsLst>
                <a:gs pos="0">
                  <a:srgbClr val="4FD4D9">
                    <a:alpha val="47000"/>
                  </a:srgbClr>
                </a:gs>
                <a:gs pos="100000">
                  <a:srgbClr val="28B8BA"/>
                </a:gs>
              </a:gsLst>
              <a:lin ang="15420000" scaled="1"/>
            </a:gradFill>
            <a:ln w="25400" cap="flat" cmpd="sng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2DFFF76E-4451-94B9-A8A9-1DF476BFE17C}"/>
                </a:ext>
              </a:extLst>
            </p:cNvPr>
            <p:cNvSpPr txBox="1"/>
            <p:nvPr/>
          </p:nvSpPr>
          <p:spPr>
            <a:xfrm>
              <a:off x="483235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zh-CN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高可靠实时操作系统</a:t>
              </a:r>
              <a:endParaRPr/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EDC6313E-27D0-EFE7-320E-F2A9CFCFAC82}"/>
                </a:ext>
              </a:extLst>
            </p:cNvPr>
            <p:cNvSpPr txBox="1"/>
            <p:nvPr/>
          </p:nvSpPr>
          <p:spPr>
            <a:xfrm>
              <a:off x="9050020" y="5083240"/>
              <a:ext cx="2148205" cy="30543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lvl="0" indent="0" algn="just" defTabSz="914400">
                <a:lnSpc>
                  <a:spcPts val="18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</a:pPr>
              <a:r>
                <a:rPr lang="en-US" sz="1200">
                  <a:ln>
                    <a:noFill/>
                  </a:ln>
                  <a:solidFill>
                    <a:srgbClr val="FFFFFF"/>
                  </a:solidFill>
                  <a:effectLst/>
                </a:rPr>
                <a:t>https://www.rt-thread.com</a:t>
              </a:r>
              <a:endParaRPr/>
            </a:p>
          </p:txBody>
        </p:sp>
        <p:pic>
          <p:nvPicPr>
            <p:cNvPr id="8" name="图片 13">
              <a:extLst>
                <a:ext uri="{FF2B5EF4-FFF2-40B4-BE49-F238E27FC236}">
                  <a16:creationId xmlns:a16="http://schemas.microsoft.com/office/drawing/2014/main" id="{1194F208-5394-799D-8C39-A04128C80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">
                  <a14:imgProps xmlns="" xmlns:a14="http://schemas.microsoft.com/office/drawing/2010/main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198225" y="5008310"/>
              <a:ext cx="455295" cy="455295"/>
            </a:xfrm>
            <a:prstGeom prst="rect">
              <a:avLst/>
            </a:prstGeom>
          </p:spPr>
        </p:pic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BAD8D5D-5DC0-A5DB-3F8E-1CD14E8A6181}"/>
              </a:ext>
            </a:extLst>
          </p:cNvPr>
          <p:cNvSpPr txBox="1">
            <a:spLocks/>
          </p:cNvSpPr>
          <p:nvPr/>
        </p:nvSpPr>
        <p:spPr>
          <a:xfrm>
            <a:off x="1323560" y="1089770"/>
            <a:ext cx="8613059" cy="123271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/>
              <a:t>Persim Studio</a:t>
            </a:r>
            <a:r>
              <a:rPr lang="zh-CN" altLang="en-US" sz="2000" dirty="0"/>
              <a:t>同时提供</a:t>
            </a:r>
            <a:r>
              <a:rPr lang="en-US" altLang="zh-CN" sz="2000" dirty="0"/>
              <a:t>PC</a:t>
            </a:r>
            <a:r>
              <a:rPr lang="zh-CN" altLang="en-US" sz="2000" dirty="0"/>
              <a:t>上的</a:t>
            </a:r>
            <a:r>
              <a:rPr lang="en-US" altLang="zh-CN" sz="2000" dirty="0"/>
              <a:t>simulator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用户可以用</a:t>
            </a:r>
            <a:r>
              <a:rPr lang="en-US" altLang="zh-CN" sz="1600" dirty="0"/>
              <a:t>PC</a:t>
            </a:r>
            <a:r>
              <a:rPr lang="zh-CN" altLang="en-US" sz="1600" dirty="0"/>
              <a:t>上的</a:t>
            </a:r>
            <a:r>
              <a:rPr lang="en-US" altLang="zh-CN" sz="1600" dirty="0"/>
              <a:t>simulator</a:t>
            </a:r>
            <a:r>
              <a:rPr lang="zh-CN" altLang="en-US" sz="1600" dirty="0"/>
              <a:t>对</a:t>
            </a:r>
            <a:r>
              <a:rPr lang="en-US" altLang="zh-CN" sz="1600" dirty="0"/>
              <a:t>JS APP</a:t>
            </a:r>
            <a:r>
              <a:rPr lang="zh-CN" altLang="en-US" sz="1600" dirty="0"/>
              <a:t>进行模拟测试和调试</a:t>
            </a:r>
            <a:endParaRPr lang="en-US" altLang="zh-CN" sz="1600" dirty="0"/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模拟测试完成后，用户可以打包下载到嵌入式设备上，直接运行</a:t>
            </a:r>
            <a:endParaRPr lang="en-US" altLang="zh-CN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80D9A5-4C2D-D26C-F05B-B121B0BF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727" y="2116183"/>
            <a:ext cx="7219404" cy="409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11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06"/>
          <p:cNvSpPr txBox="1"/>
          <p:nvPr/>
        </p:nvSpPr>
        <p:spPr>
          <a:xfrm>
            <a:off x="2340430" y="5489845"/>
            <a:ext cx="8594270" cy="957942"/>
          </a:xfrm>
          <a:prstGeom prst="rect">
            <a:avLst/>
          </a:prstGeom>
        </p:spPr>
        <p:txBody>
          <a:bodyPr vert="horz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3200">
                <a:solidFill>
                  <a:srgbClr val="000000"/>
                </a:solidFill>
                <a:latin typeface="思源黑体 CN Normal"/>
              </a:rPr>
              <a:t>谢谢</a:t>
            </a:r>
            <a:endParaRPr lang="en-US" sz="3200">
              <a:solidFill>
                <a:srgbClr val="000000"/>
              </a:solidFill>
              <a:latin typeface="思源黑体 CN Normal"/>
            </a:endParaRPr>
          </a:p>
          <a:p>
            <a:pPr>
              <a:lnSpc>
                <a:spcPct val="114000"/>
              </a:lnSpc>
            </a:pPr>
            <a:r>
              <a:rPr lang="zh-CN" sz="1600">
                <a:solidFill>
                  <a:srgbClr val="000000"/>
                </a:solidFill>
                <a:latin typeface="思源黑体 CN Normal"/>
              </a:rPr>
              <a:t>关注</a:t>
            </a:r>
            <a:r>
              <a:rPr lang="en-US" sz="1600">
                <a:solidFill>
                  <a:srgbClr val="000000"/>
                </a:solidFill>
                <a:latin typeface="思源黑体 CN Normal"/>
              </a:rPr>
              <a:t>RTThread</a:t>
            </a:r>
            <a:r>
              <a:rPr lang="zh-CN" sz="1600">
                <a:solidFill>
                  <a:srgbClr val="000000"/>
                </a:solidFill>
                <a:latin typeface="思源黑体 CN Normal"/>
              </a:rPr>
              <a:t>公众号获得更多资讯</a:t>
            </a:r>
            <a:endParaRPr lang="zh-CN" sz="1600">
              <a:latin typeface="思源黑体 CN Normal"/>
            </a:endParaRPr>
          </a:p>
        </p:txBody>
      </p:sp>
      <p:pic>
        <p:nvPicPr>
          <p:cNvPr id="19" name="图片 3"/>
          <p:cNvPicPr>
            <a:picLocks noChangeAspect="1"/>
          </p:cNvPicPr>
          <p:nvPr/>
        </p:nvPicPr>
        <p:blipFill>
          <a:blip r:embed="rId3">
            <a:lum/>
            <a:extLst>
              <a:ext uri="">
                <a14:imgProps xmlns="" xmlns:a14="http://schemas.microsoft.com/office/drawing/2010/main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/>
        </p:blipFill>
        <p:spPr>
          <a:xfrm>
            <a:off x="552643" y="5264159"/>
            <a:ext cx="1409315" cy="140931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" y="63"/>
            <a:ext cx="12192000" cy="5018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15"/>
    </mc:Choice>
    <mc:Fallback xmlns="">
      <p:transition spd="slow" advTm="6831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322_2*n_h_h_i*1_2_1_2"/>
  <p:tag name="KSO_WM_TEMPLATE_CATEGORY" val="diagram"/>
  <p:tag name="KSO_WM_TEMPLATE_INDEX" val="2023032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66.6186828613281,&quot;left&quot;:50.94999389648437,&quot;top&quot;:36.740658569335935,&quot;width&quot;:858.20001220703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.4000000059604645,&quot;colorType&quot;:1,&quot;foreColorIndex&quot;:5,&quot;pos&quot;:0,&quot;transparency&quot;:0},{&quot;brightness&quot;:0,&quot;colorType&quot;:1,&quot;foreColorIndex&quot;:5,&quot;pos&quot;:0.8100000023841858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322_2*n_h_h_i*1_2_1_2"/>
  <p:tag name="KSO_WM_TEMPLATE_CATEGORY" val="diagram"/>
  <p:tag name="KSO_WM_TEMPLATE_INDEX" val="2023032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66.6186828613281,&quot;left&quot;:50.94999389648437,&quot;top&quot;:36.740658569335935,&quot;width&quot;:858.20001220703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.4000000059604645,&quot;colorType&quot;:1,&quot;foreColorIndex&quot;:5,&quot;pos&quot;:0,&quot;transparency&quot;:0},{&quot;brightness&quot;:0,&quot;colorType&quot;:1,&quot;foreColorIndex&quot;:5,&quot;pos&quot;:0.8100000023841858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322_2*n_h_h_i*1_2_1_2"/>
  <p:tag name="KSO_WM_TEMPLATE_CATEGORY" val="diagram"/>
  <p:tag name="KSO_WM_TEMPLATE_INDEX" val="2023032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66.6186828613281,&quot;left&quot;:50.94999389648437,&quot;top&quot;:36.740658569335935,&quot;width&quot;:858.20001220703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.4000000059604645,&quot;colorType&quot;:1,&quot;foreColorIndex&quot;:5,&quot;pos&quot;:0,&quot;transparency&quot;:0},{&quot;brightness&quot;:0,&quot;colorType&quot;:1,&quot;foreColorIndex&quot;:5,&quot;pos&quot;:0.8100000023841858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322_2*n_h_h_i*1_2_1_2"/>
  <p:tag name="KSO_WM_TEMPLATE_CATEGORY" val="diagram"/>
  <p:tag name="KSO_WM_TEMPLATE_INDEX" val="2023032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66.6186828613281,&quot;left&quot;:50.94999389648437,&quot;top&quot;:36.740658569335935,&quot;width&quot;:858.20001220703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.4000000059604645,&quot;colorType&quot;:1,&quot;foreColorIndex&quot;:5,&quot;pos&quot;:0,&quot;transparency&quot;:0},{&quot;brightness&quot;:0,&quot;colorType&quot;:1,&quot;foreColorIndex&quot;:5,&quot;pos&quot;:0.8100000023841858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322_2*n_h_h_i*1_2_1_2"/>
  <p:tag name="KSO_WM_TEMPLATE_CATEGORY" val="diagram"/>
  <p:tag name="KSO_WM_TEMPLATE_INDEX" val="2023032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66.6186828613281,&quot;left&quot;:50.94999389648437,&quot;top&quot;:36.740658569335935,&quot;width&quot;:858.2000122070312}"/>
  <p:tag name="KSO_WM_DIAGRAM_COLOR_MATCH_VALUE" val="{&quot;shape&quot;:{&quot;fill&quot;:{&quot;gradient&quot;:[{&quot;brightness&quot;:0,&quot;colorType&quot;:1,&quot;foreColorIndex&quot;:5,&quot;pos&quot;:0.5400000214576721,&quot;transparency&quot;:0},{&quot;brightness&quot;:0.4000000059604645,&quot;colorType&quot;:1,&quot;foreColorIndex&quot;:5,&quot;pos&quot;:0,&quot;transparency&quot;:0},{&quot;brightness&quot;:0,&quot;colorType&quot;:1,&quot;foreColorIndex&quot;:5,&quot;pos&quot;:0.8100000023841858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x4e24wdb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Designed by iSlide">
  <a:themeElements>
    <a:clrScheme name="iSlide 单页配色4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A174F2"/>
      </a:accent1>
      <a:accent2>
        <a:srgbClr val="58A1F3"/>
      </a:accent2>
      <a:accent3>
        <a:srgbClr val="547AF3"/>
      </a:accent3>
      <a:accent4>
        <a:srgbClr val="6AC6EE"/>
      </a:accent4>
      <a:accent5>
        <a:srgbClr val="66CDD5"/>
      </a:accent5>
      <a:accent6>
        <a:srgbClr val="80C4D3"/>
      </a:accent6>
      <a:hlink>
        <a:srgbClr val="A174F2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Designed by iSlide">
  <a:themeElements>
    <a:clrScheme name="iSlide 单页配色3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4DC77B"/>
      </a:accent1>
      <a:accent2>
        <a:srgbClr val="E0B606"/>
      </a:accent2>
      <a:accent3>
        <a:srgbClr val="94C765"/>
      </a:accent3>
      <a:accent4>
        <a:srgbClr val="F59A00"/>
      </a:accent4>
      <a:accent5>
        <a:srgbClr val="B9AF67"/>
      </a:accent5>
      <a:accent6>
        <a:srgbClr val="AFB295"/>
      </a:accent6>
      <a:hlink>
        <a:srgbClr val="4DC77B"/>
      </a:hlink>
      <a:folHlink>
        <a:srgbClr val="979797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unj2qio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Designed by iSlide">
  <a:themeElements>
    <a:clrScheme name="iSlide 单页配色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05BF5"/>
      </a:accent1>
      <a:accent2>
        <a:srgbClr val="F5B700"/>
      </a:accent2>
      <a:accent3>
        <a:srgbClr val="6365DD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Designed by iSlide">
  <a:themeElements>
    <a:clrScheme name="0101012121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13131"/>
      </a:accent1>
      <a:accent2>
        <a:srgbClr val="8F8F8F"/>
      </a:accent2>
      <a:accent3>
        <a:srgbClr val="ED3E2D"/>
      </a:accent3>
      <a:accent4>
        <a:srgbClr val="D8D8D8"/>
      </a:accent4>
      <a:accent5>
        <a:srgbClr val="F2F2F2"/>
      </a:accent5>
      <a:accent6>
        <a:srgbClr val="FFFFFF"/>
      </a:accent6>
      <a:hlink>
        <a:srgbClr val="000000"/>
      </a:hlink>
      <a:folHlink>
        <a:srgbClr val="000000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11432</TotalTime>
  <Words>4136</Words>
  <Application>Microsoft Office PowerPoint</Application>
  <PresentationFormat>宽屏</PresentationFormat>
  <Paragraphs>317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等线</vt:lpstr>
      <vt:lpstr>等线 Light</vt:lpstr>
      <vt:lpstr>思源黑体 CN Normal</vt:lpstr>
      <vt:lpstr>Arial</vt:lpstr>
      <vt:lpstr>Lato</vt:lpstr>
      <vt:lpstr>Segoe UI</vt:lpstr>
      <vt:lpstr>Times New Roman</vt:lpstr>
      <vt:lpstr>Office Theme</vt:lpstr>
      <vt:lpstr>Office 主题​​</vt:lpstr>
      <vt:lpstr>Designed by iSlide</vt:lpstr>
      <vt:lpstr>Designed by iSlide</vt:lpstr>
      <vt:lpstr>Designed by iSlide</vt:lpstr>
      <vt:lpstr>Designed by iSlide</vt:lpstr>
      <vt:lpstr>Designed by iSlide</vt:lpstr>
      <vt:lpstr>Designed by iSlide</vt:lpstr>
      <vt:lpstr>Designed by iSlide</vt:lpstr>
      <vt:lpstr>PowerPoint 演示文稿</vt:lpstr>
      <vt:lpstr>a-cockpit总体架构</vt:lpstr>
      <vt:lpstr>a-cockpit架构图</vt:lpstr>
      <vt:lpstr>JS应用层</vt:lpstr>
      <vt:lpstr>主界面</vt:lpstr>
      <vt:lpstr>setting界面</vt:lpstr>
      <vt:lpstr>手机投屏界面</vt:lpstr>
      <vt:lpstr>ADAS界面</vt:lpstr>
      <vt:lpstr>行车记录仪界面</vt:lpstr>
      <vt:lpstr>C-JS binding层</vt:lpstr>
      <vt:lpstr>Native Services (1)</vt:lpstr>
      <vt:lpstr>Native Services (2)</vt:lpstr>
      <vt:lpstr>Native Services (3)</vt:lpstr>
      <vt:lpstr>Native Services (4)</vt:lpstr>
      <vt:lpstr>a-cockpit 通信机制</vt:lpstr>
      <vt:lpstr>通信机制概述</vt:lpstr>
      <vt:lpstr>JS与JS基于DCM的交互机制</vt:lpstr>
      <vt:lpstr>JS与JS基于DCM的交互示例</vt:lpstr>
      <vt:lpstr>JS与JS基于EMQ的交互机制</vt:lpstr>
      <vt:lpstr>JS与JS基于EMQ的交互示例</vt:lpstr>
      <vt:lpstr>JS与JS基于systemStorage的交互机制</vt:lpstr>
      <vt:lpstr>JS与Native Service之间基于ubus的交互机制</vt:lpstr>
      <vt:lpstr>JS与Native Service之间基于C-JS绑定的交互机制</vt:lpstr>
      <vt:lpstr>Native Service之间基于ubus的交互机制(1)</vt:lpstr>
      <vt:lpstr>Native Service之间基于ubus的交互机制(2)</vt:lpstr>
      <vt:lpstr>Native Service之间基于ubus的交互机制(3)</vt:lpstr>
      <vt:lpstr>Native Service之间基于Linux IPC的交互机制</vt:lpstr>
      <vt:lpstr>persim-studio简介</vt:lpstr>
      <vt:lpstr>Persim Studio (1) </vt:lpstr>
      <vt:lpstr>Persim Studio (2)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RTT</dc:creator>
  <cp:lastModifiedBy>rovin Yu</cp:lastModifiedBy>
  <cp:revision>74</cp:revision>
  <dcterms:created xsi:type="dcterms:W3CDTF">2024-11-27T09:47:46Z</dcterms:created>
  <dcterms:modified xsi:type="dcterms:W3CDTF">2025-08-14T08:05:46Z</dcterms:modified>
</cp:coreProperties>
</file>